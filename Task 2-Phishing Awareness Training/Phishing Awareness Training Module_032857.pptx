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media/image7.svg" ContentType="image/svg"/>
  <Override PartName="/ppt/media/image3.svg" ContentType="image/svg"/>
  <Override PartName="/ppt/media/image5.svg" ContentType="image/svg"/>
  <Override PartName="/ppt/media/image9.svg" ContentType="image/svg"/>
  <Override PartName="/ppt/media/image12.svg" ContentType="image/svg"/>
  <Override PartName="/ppt/media/image15.svg" ContentType="image/svg"/>
  <Override PartName="/ppt/media/image22.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8288000" cy="10287000"/>
  <p:notesSz cx="7559675" cy="10691813"/>
  <p:embeddedFontLst>
    <p:embeddedFont>
      <p:font typeface="Pattanakarn Bold"/>
    </p:embeddedFont>
    <p:embeddedFont>
      <p:font typeface="Pattanakarn Light"/>
    </p:embeddedFont>
    <p:embeddedFont>
      <p:font typeface="Microsoft YaHei"/>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DE2A18B-B96C-4593-B394-F3169DAEBEF9}"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
        <p:nvSpPr>
          <p:cNvPr id="5" name="PlaceHolder 4"/>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Calibri"/>
              </a:rPr>
              <a:t>Click to edit the title text format</a:t>
            </a:r>
            <a:endParaRPr lang="en-ZA" sz="1800" b="0" u="none" strike="noStrike">
              <a:solidFill>
                <a:srgbClr val="000000"/>
              </a:solidFill>
              <a:effectLst/>
              <a:uFillTx/>
              <a:latin typeface="Arial"/>
            </a:endParaRPr>
          </a:p>
        </p:txBody>
      </p:sp>
      <p:sp>
        <p:nvSpPr>
          <p:cNvPr id="6" name="PlaceHolder 5"/>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ZA"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ZA"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ZA"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ZA"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ZA"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ZA"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ZA"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rIns="91440" tIns="45720" bIns="45720" anchor="b">
            <a:noAutofit/>
          </a:bodyPr>
          <a:p>
            <a:pPr indent="0" defTabSz="914400">
              <a:lnSpc>
                <a:spcPct val="100000"/>
              </a:lnSpc>
              <a:buNone/>
              <a:tabLst>
                <a:tab algn="l" pos="0"/>
              </a:tabLst>
            </a:pPr>
            <a:r>
              <a:rPr lang="en-US" sz="2000" b="1" u="none" strike="noStrike">
                <a:solidFill>
                  <a:schemeClr val="dk1"/>
                </a:solidFill>
                <a:effectLst/>
                <a:uFillTx/>
                <a:latin typeface="Calibri"/>
              </a:rPr>
              <a:t>Click to edit Master title style</a:t>
            </a:r>
            <a:endParaRPr lang="en-ZA" sz="2000" b="0" u="none" strike="noStrike">
              <a:solidFill>
                <a:srgbClr val="000000"/>
              </a:solidFill>
              <a:effectLst/>
              <a:uFillTx/>
              <a:latin typeface="Arial"/>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a:t>
            </a:r>
            <a:r>
              <a:rPr lang="en-US" sz="3200" b="0" u="none" strike="noStrike">
                <a:solidFill>
                  <a:schemeClr val="dk1"/>
                </a:solidFill>
                <a:effectLst/>
                <a:uFillTx/>
                <a:latin typeface="Calibri"/>
              </a:rPr>
              <a:t>text styles</a:t>
            </a:r>
            <a:endParaRPr lang="en-ZA"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ZA"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ZA"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ZA"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ZA" sz="2000" b="0" u="none" strike="noStrike">
              <a:solidFill>
                <a:srgbClr val="000000"/>
              </a:solidFill>
              <a:effectLst/>
              <a:uFillTx/>
              <a:latin typeface="Arial"/>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ZA" sz="1400" b="0" u="none" strike="noStrike">
              <a:solidFill>
                <a:srgbClr val="000000"/>
              </a:solidFill>
              <a:effectLst/>
              <a:uFillTx/>
              <a:latin typeface="Arial"/>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2551811-B995-4A4F-A28B-5606D91B409D}"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rIns="91440" tIns="45720" bIns="45720" anchor="b">
            <a:noAutofit/>
          </a:bodyPr>
          <a:p>
            <a:pPr indent="0" defTabSz="914400">
              <a:lnSpc>
                <a:spcPct val="100000"/>
              </a:lnSpc>
              <a:buNone/>
              <a:tabLst>
                <a:tab algn="l" pos="0"/>
              </a:tabLst>
            </a:pPr>
            <a:r>
              <a:rPr lang="en-US" sz="2000" b="1" u="none" strike="noStrike">
                <a:solidFill>
                  <a:schemeClr val="dk1"/>
                </a:solidFill>
                <a:effectLst/>
                <a:uFillTx/>
                <a:latin typeface="Calibri"/>
              </a:rPr>
              <a:t>Click to edit Master title style</a:t>
            </a:r>
            <a:endParaRPr lang="en-ZA" sz="2000" b="0" u="none" strike="noStrike">
              <a:solidFill>
                <a:srgbClr val="000000"/>
              </a:solidFill>
              <a:effectLst/>
              <a:uFillTx/>
              <a:latin typeface="Arial"/>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a:t>
            </a:r>
            <a:r>
              <a:rPr lang="en-US" sz="3200" b="0" u="none" strike="noStrike">
                <a:solidFill>
                  <a:schemeClr val="dk1"/>
                </a:solidFill>
                <a:effectLst/>
                <a:uFillTx/>
                <a:latin typeface="Calibri"/>
              </a:rPr>
              <a:t>outline text format</a:t>
            </a:r>
            <a:endParaRPr lang="en-ZA"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a:t>
            </a:r>
            <a:r>
              <a:rPr lang="en-US" sz="3200" b="0" u="none" strike="noStrike">
                <a:solidFill>
                  <a:schemeClr val="dk1"/>
                </a:solidFill>
                <a:effectLst/>
                <a:uFillTx/>
                <a:latin typeface="Calibri"/>
              </a:rPr>
              <a:t>Level</a:t>
            </a:r>
            <a:endParaRPr lang="en-ZA" sz="3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a:t>
            </a:r>
            <a:r>
              <a:rPr lang="en-US" sz="3200" b="0" u="none" strike="noStrike">
                <a:solidFill>
                  <a:schemeClr val="dk1"/>
                </a:solidFill>
                <a:effectLst/>
                <a:uFillTx/>
                <a:latin typeface="Calibri"/>
              </a:rPr>
              <a:t>Level</a:t>
            </a:r>
            <a:endParaRPr lang="en-ZA" sz="3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a:t>
            </a:r>
            <a:r>
              <a:rPr lang="en-US" sz="3200" b="0" u="none" strike="noStrike">
                <a:solidFill>
                  <a:schemeClr val="dk1"/>
                </a:solidFill>
                <a:effectLst/>
                <a:uFillTx/>
                <a:latin typeface="Calibri"/>
              </a:rPr>
              <a:t>Outline </a:t>
            </a:r>
            <a:r>
              <a:rPr lang="en-US" sz="3200" b="0" u="none" strike="noStrike">
                <a:solidFill>
                  <a:schemeClr val="dk1"/>
                </a:solidFill>
                <a:effectLst/>
                <a:uFillTx/>
                <a:latin typeface="Calibri"/>
              </a:rPr>
              <a:t>Level</a:t>
            </a:r>
            <a:endParaRPr lang="en-ZA" sz="3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a:t>
            </a:r>
            <a:r>
              <a:rPr lang="en-US" sz="3200" b="0" u="none" strike="noStrike">
                <a:solidFill>
                  <a:schemeClr val="dk1"/>
                </a:solidFill>
                <a:effectLst/>
                <a:uFillTx/>
                <a:latin typeface="Calibri"/>
              </a:rPr>
              <a:t>Outline </a:t>
            </a:r>
            <a:r>
              <a:rPr lang="en-US" sz="3200" b="0" u="none" strike="noStrike">
                <a:solidFill>
                  <a:schemeClr val="dk1"/>
                </a:solidFill>
                <a:effectLst/>
                <a:uFillTx/>
                <a:latin typeface="Calibri"/>
              </a:rPr>
              <a:t>Level</a:t>
            </a:r>
            <a:endParaRPr lang="en-ZA" sz="3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a:t>
            </a:r>
            <a:r>
              <a:rPr lang="en-US" sz="3200" b="0" u="none" strike="noStrike">
                <a:solidFill>
                  <a:schemeClr val="dk1"/>
                </a:solidFill>
                <a:effectLst/>
                <a:uFillTx/>
                <a:latin typeface="Calibri"/>
              </a:rPr>
              <a:t>Outline </a:t>
            </a:r>
            <a:r>
              <a:rPr lang="en-US" sz="3200" b="0" u="none" strike="noStrike">
                <a:solidFill>
                  <a:schemeClr val="dk1"/>
                </a:solidFill>
                <a:effectLst/>
                <a:uFillTx/>
                <a:latin typeface="Calibri"/>
              </a:rPr>
              <a:t>Level</a:t>
            </a:r>
            <a:endParaRPr lang="en-ZA" sz="3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a:t>
            </a:r>
            <a:r>
              <a:rPr lang="en-US" sz="3200" b="0" u="none" strike="noStrike">
                <a:solidFill>
                  <a:schemeClr val="dk1"/>
                </a:solidFill>
                <a:effectLst/>
                <a:uFillTx/>
                <a:latin typeface="Calibri"/>
              </a:rPr>
              <a:t>nth </a:t>
            </a:r>
            <a:r>
              <a:rPr lang="en-US" sz="3200" b="0" u="none" strike="noStrike">
                <a:solidFill>
                  <a:schemeClr val="dk1"/>
                </a:solidFill>
                <a:effectLst/>
                <a:uFillTx/>
                <a:latin typeface="Calibri"/>
              </a:rPr>
              <a:t>Outli</a:t>
            </a:r>
            <a:r>
              <a:rPr lang="en-US" sz="3200" b="0" u="none" strike="noStrike">
                <a:solidFill>
                  <a:schemeClr val="dk1"/>
                </a:solidFill>
                <a:effectLst/>
                <a:uFillTx/>
                <a:latin typeface="Calibri"/>
              </a:rPr>
              <a:t>ne </a:t>
            </a:r>
            <a:r>
              <a:rPr lang="en-US" sz="3200" b="0" u="none" strike="noStrike">
                <a:solidFill>
                  <a:schemeClr val="dk1"/>
                </a:solidFill>
                <a:effectLst/>
                <a:uFillTx/>
                <a:latin typeface="Calibri"/>
              </a:rPr>
              <a:t>Leve</a:t>
            </a:r>
            <a:r>
              <a:rPr lang="en-US" sz="3200" b="0" u="none" strike="noStrike">
                <a:solidFill>
                  <a:schemeClr val="dk1"/>
                </a:solidFill>
                <a:effectLst/>
                <a:uFillTx/>
                <a:latin typeface="Calibri"/>
              </a:rPr>
              <a:t>l</a:t>
            </a:r>
            <a:endParaRPr lang="en-ZA" sz="3200" b="0" u="none" strike="noStrike">
              <a:solidFill>
                <a:srgbClr val="000000"/>
              </a:solidFill>
              <a:effectLst/>
              <a:uFillTx/>
              <a:latin typeface="Arial"/>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ZA" sz="1400" b="0" u="none" strike="noStrike">
              <a:solidFill>
                <a:srgbClr val="000000"/>
              </a:solidFill>
              <a:effectLst/>
              <a:uFillTx/>
              <a:latin typeface="Arial"/>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A7C2AAD-9FB1-4C78-81E2-3164A12A257F}"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0976CBC-6D22-40AF-BB1F-545904F6C600}"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ZA"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ZA"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ZA"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ZA"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ZA" sz="2000" b="0" u="none" strike="noStrike">
              <a:solidFill>
                <a:srgbClr val="000000"/>
              </a:solidFill>
              <a:effectLst/>
              <a:uFillTx/>
              <a:latin typeface="Arial"/>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30B196E-B301-434C-AAB4-E56AFFEDE56F}"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rIns="91440" tIns="45720" bIns="45720" anchor="ctr" vert="eaVert">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ZA"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ZA"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ZA"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ZA"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ZA" sz="2000" b="0" u="none" strike="noStrike">
              <a:solidFill>
                <a:srgbClr val="000000"/>
              </a:solidFill>
              <a:effectLst/>
              <a:uFillTx/>
              <a:latin typeface="Arial"/>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9F2EA52-1BB0-4FEF-8F8D-26939A552713}"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ZA"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ZA"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ZA"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ZA"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ZA" sz="2000" b="0" u="none" strike="noStrike">
              <a:solidFill>
                <a:srgbClr val="000000"/>
              </a:solidFill>
              <a:effectLst/>
              <a:uFillTx/>
              <a:latin typeface="Arial"/>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41DF230-7018-448F-824E-D3E5CB56E2FE}"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rIns="91440" tIns="45720" bIns="45720" anchor="t">
            <a:noAutofit/>
          </a:bodyPr>
          <a:p>
            <a:pPr indent="0" defTabSz="914400">
              <a:lnSpc>
                <a:spcPct val="100000"/>
              </a:lnSpc>
              <a:buNone/>
              <a:tabLst>
                <a:tab algn="l" pos="0"/>
              </a:tabLst>
            </a:pPr>
            <a:r>
              <a:rPr lang="en-US" sz="4000" b="1" u="none" strike="noStrike" cap="all">
                <a:solidFill>
                  <a:schemeClr val="dk1"/>
                </a:solidFill>
                <a:effectLst/>
                <a:uFillTx/>
                <a:latin typeface="Calibri"/>
              </a:rPr>
              <a:t>Click to edit Master title style</a:t>
            </a:r>
            <a:endParaRPr lang="en-ZA" sz="4000" b="0" u="none" strike="noStrike">
              <a:solidFill>
                <a:srgbClr val="000000"/>
              </a:solidFill>
              <a:effectLst/>
              <a:uFillTx/>
              <a:latin typeface="Arial"/>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ZA" sz="2000" b="0" u="none" strike="noStrike">
              <a:solidFill>
                <a:srgbClr val="000000"/>
              </a:solidFill>
              <a:effectLst/>
              <a:uFillTx/>
              <a:latin typeface="Arial"/>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34B724A-8A90-450D-917B-35EF5E31DBAE}"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ZA"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ZA"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ZA"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ZA"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ZA" sz="1800" b="0" u="none" strike="noStrike">
              <a:solidFill>
                <a:srgbClr val="000000"/>
              </a:solidFill>
              <a:effectLst/>
              <a:uFillTx/>
              <a:latin typeface="Arial"/>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ZA"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ZA"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ZA"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ZA"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ZA" sz="1800" b="0" u="none" strike="noStrike">
              <a:solidFill>
                <a:srgbClr val="000000"/>
              </a:solidFill>
              <a:effectLst/>
              <a:uFillTx/>
              <a:latin typeface="Arial"/>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1CFAAD9-2536-43C6-97CF-D9E0AF50506C}"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ZA" sz="2400" b="0" u="none" strike="noStrike">
              <a:solidFill>
                <a:srgbClr val="000000"/>
              </a:solidFill>
              <a:effectLst/>
              <a:uFillTx/>
              <a:latin typeface="Arial"/>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ZA"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ZA"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ZA"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ZA"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ZA" sz="1600" b="0" u="none" strike="noStrike">
              <a:solidFill>
                <a:srgbClr val="000000"/>
              </a:solidFill>
              <a:effectLst/>
              <a:uFillTx/>
              <a:latin typeface="Arial"/>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ZA" sz="2400" b="0" u="none" strike="noStrike">
              <a:solidFill>
                <a:srgbClr val="000000"/>
              </a:solidFill>
              <a:effectLst/>
              <a:uFillTx/>
              <a:latin typeface="Arial"/>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ZA"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ZA"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ZA"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ZA"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ZA" sz="1600" b="0" u="none" strike="noStrike">
              <a:solidFill>
                <a:srgbClr val="000000"/>
              </a:solidFill>
              <a:effectLst/>
              <a:uFillTx/>
              <a:latin typeface="Arial"/>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93CDE0E-4922-481A-AF53-D669CF5C52DF}"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ZA" sz="4400" b="0" u="none" strike="noStrike">
              <a:solidFill>
                <a:srgbClr val="000000"/>
              </a:solidFill>
              <a:effectLst/>
              <a:uFillTx/>
              <a:latin typeface="Arial"/>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ZA"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ZA" sz="1400" b="0" u="none" strike="noStrike">
                <a:solidFill>
                  <a:srgbClr val="000000"/>
                </a:solidFill>
                <a:effectLst/>
                <a:uFillTx/>
                <a:latin typeface="Times New Roman"/>
              </a:defRPr>
            </a:lvl1pPr>
          </a:lstStyle>
          <a:p>
            <a:pPr indent="0" algn="ctr">
              <a:lnSpc>
                <a:spcPct val="100000"/>
              </a:lnSpc>
              <a:buNone/>
              <a:tabLst>
                <a:tab algn="l" pos="0"/>
              </a:tabLst>
            </a:pPr>
            <a:r>
              <a:rPr lang="en-ZA" sz="1400" b="0" u="none" strike="noStrike">
                <a:solidFill>
                  <a:srgbClr val="000000"/>
                </a:solidFill>
                <a:effectLst/>
                <a:uFillTx/>
                <a:latin typeface="Times New Roman"/>
              </a:rPr>
              <a:t>&lt;footer&gt;</a:t>
            </a:r>
            <a:endParaRPr lang="en-ZA"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856279B-0D4C-498D-8E28-190F20947BBF}" type="slidenum">
              <a:rPr lang="en-US" sz="1200" b="0" u="none" strike="noStrike">
                <a:solidFill>
                  <a:schemeClr val="dk1">
                    <a:tint val="75000"/>
                  </a:schemeClr>
                </a:solidFill>
                <a:effectLst/>
                <a:uFillTx/>
                <a:latin typeface="Calibri"/>
              </a:rPr>
              <a:t>&lt;number&gt;</a:t>
            </a:fld>
            <a:endParaRPr lang="en-ZA"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8.png"/><Relationship Id="rId11" Type="http://schemas.openxmlformats.org/officeDocument/2006/relationships/image" Target="../media/image9.svg"/><Relationship Id="rId12" Type="http://schemas.openxmlformats.org/officeDocument/2006/relationships/image" Target="../media/image8.png"/><Relationship Id="rId13" Type="http://schemas.openxmlformats.org/officeDocument/2006/relationships/image" Target="../media/image9.svg"/><Relationship Id="rId1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image" Target="../media/image16.jpeg"/><Relationship Id="rId8"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15.svg"/><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image" Target="../media/image2.png"/><Relationship Id="rId10" Type="http://schemas.openxmlformats.org/officeDocument/2006/relationships/image" Target="../media/image3.svg"/><Relationship Id="rId1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4.png"/><Relationship Id="rId7" Type="http://schemas.openxmlformats.org/officeDocument/2006/relationships/image" Target="../media/image15.svg"/><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3.png"/><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1" name="AutoShape 2"/>
          <p:cNvSpPr/>
          <p:nvPr/>
        </p:nvSpPr>
        <p:spPr>
          <a:xfrm>
            <a:off x="1028520" y="5924160"/>
            <a:ext cx="1623060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62" name="AutoShape 3"/>
          <p:cNvSpPr/>
          <p:nvPr/>
        </p:nvSpPr>
        <p:spPr>
          <a:xfrm>
            <a:off x="1028520" y="7319160"/>
            <a:ext cx="1623060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grpSp>
        <p:nvGrpSpPr>
          <p:cNvPr id="63" name="Group 4"/>
          <p:cNvGrpSpPr/>
          <p:nvPr/>
        </p:nvGrpSpPr>
        <p:grpSpPr>
          <a:xfrm>
            <a:off x="5797440" y="5224680"/>
            <a:ext cx="6692400" cy="5987160"/>
            <a:chOff x="5797440" y="5224680"/>
            <a:chExt cx="6692400" cy="5987160"/>
          </a:xfrm>
        </p:grpSpPr>
        <p:sp>
          <p:nvSpPr>
            <p:cNvPr id="64" name="Freeform 5"/>
            <p:cNvSpPr/>
            <p:nvPr/>
          </p:nvSpPr>
          <p:spPr>
            <a:xfrm>
              <a:off x="5797440" y="5369400"/>
              <a:ext cx="6692400" cy="5842440"/>
            </a:xfrm>
            <a:custGeom>
              <a:avLst/>
              <a:gdLst>
                <a:gd name="textAreaLeft" fmla="*/ 0 w 6692400"/>
                <a:gd name="textAreaRight" fmla="*/ 6693120 w 6692400"/>
                <a:gd name="textAreaTop" fmla="*/ 0 h 5842440"/>
                <a:gd name="textAreaBottom" fmla="*/ 5843160 h 5842440"/>
              </a:gdLst>
              <a:ahLst/>
              <a:cxnLst/>
              <a:rect l="textAreaLeft" t="textAreaTop" r="textAreaRight" b="textAreaBottom"/>
              <a:pathLst>
                <a:path w="1762764" h="1538937">
                  <a:moveTo>
                    <a:pt x="11567" y="0"/>
                  </a:moveTo>
                  <a:lnTo>
                    <a:pt x="1751197" y="0"/>
                  </a:lnTo>
                  <a:cubicBezTo>
                    <a:pt x="1757585" y="0"/>
                    <a:pt x="1762764" y="5179"/>
                    <a:pt x="1762764" y="11567"/>
                  </a:cubicBezTo>
                  <a:lnTo>
                    <a:pt x="1762764" y="1527369"/>
                  </a:lnTo>
                  <a:cubicBezTo>
                    <a:pt x="1762764" y="1533758"/>
                    <a:pt x="1757585" y="1538937"/>
                    <a:pt x="1751197" y="1538937"/>
                  </a:cubicBezTo>
                  <a:lnTo>
                    <a:pt x="11567" y="1538937"/>
                  </a:lnTo>
                  <a:cubicBezTo>
                    <a:pt x="5179" y="1538937"/>
                    <a:pt x="0" y="1533758"/>
                    <a:pt x="0" y="1527369"/>
                  </a:cubicBezTo>
                  <a:lnTo>
                    <a:pt x="0" y="11567"/>
                  </a:lnTo>
                  <a:cubicBezTo>
                    <a:pt x="0" y="5179"/>
                    <a:pt x="5179" y="0"/>
                    <a:pt x="11567"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65" name="TextBox 6"/>
            <p:cNvSpPr/>
            <p:nvPr/>
          </p:nvSpPr>
          <p:spPr>
            <a:xfrm>
              <a:off x="5797440" y="5224680"/>
              <a:ext cx="6692400" cy="5987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66" name="Group 7"/>
          <p:cNvGrpSpPr/>
          <p:nvPr/>
        </p:nvGrpSpPr>
        <p:grpSpPr>
          <a:xfrm>
            <a:off x="6679080" y="5384520"/>
            <a:ext cx="4929480" cy="3888360"/>
            <a:chOff x="6679080" y="5384520"/>
            <a:chExt cx="4929480" cy="3888360"/>
          </a:xfrm>
        </p:grpSpPr>
        <p:sp>
          <p:nvSpPr>
            <p:cNvPr id="67" name="Freeform 8"/>
            <p:cNvSpPr/>
            <p:nvPr/>
          </p:nvSpPr>
          <p:spPr>
            <a:xfrm>
              <a:off x="6679080" y="5384520"/>
              <a:ext cx="4929480" cy="3888360"/>
            </a:xfrm>
            <a:custGeom>
              <a:avLst/>
              <a:gdLst>
                <a:gd name="textAreaLeft" fmla="*/ 0 w 4929480"/>
                <a:gd name="textAreaRight" fmla="*/ 4930200 w 4929480"/>
                <a:gd name="textAreaTop" fmla="*/ 0 h 3888360"/>
                <a:gd name="textAreaBottom" fmla="*/ 3889080 h 3888360"/>
              </a:gdLst>
              <a:ahLst/>
              <a:cxnLst/>
              <a:rect l="textAreaLeft" t="textAreaTop" r="textAreaRight" b="textAreaBottom"/>
              <a:pathLst>
                <a:path w="763809" h="602506">
                  <a:moveTo>
                    <a:pt x="0" y="0"/>
                  </a:moveTo>
                  <a:lnTo>
                    <a:pt x="763809" y="0"/>
                  </a:lnTo>
                  <a:lnTo>
                    <a:pt x="763809" y="602506"/>
                  </a:lnTo>
                  <a:lnTo>
                    <a:pt x="0" y="602506"/>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68" name="Freeform 9"/>
          <p:cNvSpPr/>
          <p:nvPr/>
        </p:nvSpPr>
        <p:spPr>
          <a:xfrm>
            <a:off x="8985960" y="965484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20" y="0"/>
                </a:lnTo>
                <a:lnTo>
                  <a:pt x="316220" y="79055"/>
                </a:lnTo>
                <a:lnTo>
                  <a:pt x="0" y="79055"/>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69" name="Freeform 10"/>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70" name="Freeform 11"/>
          <p:cNvSpPr/>
          <p:nvPr/>
        </p:nvSpPr>
        <p:spPr>
          <a:xfrm>
            <a:off x="2852280" y="6402240"/>
            <a:ext cx="1014840" cy="438840"/>
          </a:xfrm>
          <a:custGeom>
            <a:avLst/>
            <a:gdLst>
              <a:gd name="textAreaLeft" fmla="*/ 0 w 1014840"/>
              <a:gd name="textAreaRight" fmla="*/ 1015560 w 1014840"/>
              <a:gd name="textAreaTop" fmla="*/ 0 h 438840"/>
              <a:gd name="textAreaBottom" fmla="*/ 439560 h 438840"/>
            </a:gdLst>
            <a:ahLst/>
            <a:cxnLst/>
            <a:rect l="textAreaLeft" t="textAreaTop" r="textAreaRight" b="textAreaBottom"/>
            <a:pathLst>
              <a:path w="1015467" h="439420">
                <a:moveTo>
                  <a:pt x="0" y="0"/>
                </a:moveTo>
                <a:lnTo>
                  <a:pt x="1015467" y="0"/>
                </a:lnTo>
                <a:lnTo>
                  <a:pt x="1015467" y="439420"/>
                </a:lnTo>
                <a:lnTo>
                  <a:pt x="0" y="439420"/>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71" name="Freeform 12"/>
          <p:cNvSpPr/>
          <p:nvPr/>
        </p:nvSpPr>
        <p:spPr>
          <a:xfrm flipH="1">
            <a:off x="14419440" y="6402240"/>
            <a:ext cx="1014840" cy="438840"/>
          </a:xfrm>
          <a:custGeom>
            <a:avLst/>
            <a:gdLst>
              <a:gd name="textAreaLeft" fmla="*/ 360 w 1014840"/>
              <a:gd name="textAreaRight" fmla="*/ 1015920 w 1014840"/>
              <a:gd name="textAreaTop" fmla="*/ 0 h 438840"/>
              <a:gd name="textAreaBottom" fmla="*/ 439560 h 438840"/>
            </a:gdLst>
            <a:ahLst/>
            <a:cxnLst/>
            <a:rect l="textAreaLeft" t="textAreaTop" r="textAreaRight" b="textAreaBottom"/>
            <a:pathLst>
              <a:path w="1015467" h="439420">
                <a:moveTo>
                  <a:pt x="1015467" y="0"/>
                </a:moveTo>
                <a:lnTo>
                  <a:pt x="0" y="0"/>
                </a:lnTo>
                <a:lnTo>
                  <a:pt x="0" y="439420"/>
                </a:lnTo>
                <a:lnTo>
                  <a:pt x="1015467" y="439420"/>
                </a:lnTo>
                <a:lnTo>
                  <a:pt x="1015467"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72" name="Freeform 13"/>
          <p:cNvSpPr/>
          <p:nvPr/>
        </p:nvSpPr>
        <p:spPr>
          <a:xfrm>
            <a:off x="1028880" y="8442720"/>
            <a:ext cx="808920" cy="815040"/>
          </a:xfrm>
          <a:custGeom>
            <a:avLst/>
            <a:gdLst>
              <a:gd name="textAreaLeft" fmla="*/ 0 w 808920"/>
              <a:gd name="textAreaRight" fmla="*/ 809640 w 808920"/>
              <a:gd name="textAreaTop" fmla="*/ 0 h 815040"/>
              <a:gd name="textAreaBottom" fmla="*/ 815760 h 815040"/>
            </a:gdLst>
            <a:ahLst/>
            <a:cxnLst/>
            <a:rect l="textAreaLeft" t="textAreaTop" r="textAreaRight" b="textAreaBottom"/>
            <a:pathLst>
              <a:path w="809744" h="815676">
                <a:moveTo>
                  <a:pt x="0" y="0"/>
                </a:moveTo>
                <a:lnTo>
                  <a:pt x="809744" y="0"/>
                </a:lnTo>
                <a:lnTo>
                  <a:pt x="809744" y="815676"/>
                </a:lnTo>
                <a:lnTo>
                  <a:pt x="0" y="815676"/>
                </a:lnTo>
                <a:lnTo>
                  <a:pt x="0" y="0"/>
                </a:lnTo>
                <a:close/>
              </a:path>
            </a:pathLst>
          </a:custGeom>
          <a:blipFill rotWithShape="0">
            <a:blip r:embed="rId10">
              <a:extLst>
                <a:ext uri="{96DAC541-7B7A-43D3-8B79-37D633B846F1}">
                  <asvg:svgBlip xmlns:asvg="http://schemas.microsoft.com/office/drawing/2016/SVG/main" r:embed="rId11"/>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73" name="TextBox 14"/>
          <p:cNvSpPr/>
          <p:nvPr/>
        </p:nvSpPr>
        <p:spPr>
          <a:xfrm>
            <a:off x="2670120" y="2685960"/>
            <a:ext cx="12947040" cy="2297160"/>
          </a:xfrm>
          <a:prstGeom prst="rect">
            <a:avLst/>
          </a:prstGeom>
          <a:noFill/>
          <a:ln w="0">
            <a:noFill/>
          </a:ln>
        </p:spPr>
        <p:style>
          <a:lnRef idx="0"/>
          <a:fillRef idx="0"/>
          <a:effectRef idx="0"/>
          <a:fontRef idx="minor"/>
        </p:style>
        <p:txBody>
          <a:bodyPr lIns="0" rIns="0" tIns="0" bIns="0" anchor="t">
            <a:spAutoFit/>
          </a:bodyPr>
          <a:p>
            <a:pPr algn="ctr" defTabSz="914400">
              <a:lnSpc>
                <a:spcPts val="8739"/>
              </a:lnSpc>
            </a:pPr>
            <a:r>
              <a:rPr lang="en-US" sz="9500" b="0" u="none" strike="noStrike">
                <a:solidFill>
                  <a:srgbClr val="a2dd39"/>
                </a:solidFill>
                <a:effectLst/>
                <a:uFillTx/>
                <a:latin typeface="Pattanakarn Light"/>
                <a:ea typeface="Pattanakarn Light"/>
              </a:rPr>
              <a:t>DIGITAL SAFETY STARTS WITH YOU</a:t>
            </a:r>
            <a:endParaRPr lang="en-ZA" sz="9500" b="0" u="none" strike="noStrike">
              <a:solidFill>
                <a:srgbClr val="ffffff"/>
              </a:solidFill>
              <a:effectLst/>
              <a:uFillTx/>
              <a:latin typeface="Arial"/>
            </a:endParaRPr>
          </a:p>
        </p:txBody>
      </p:sp>
      <p:sp>
        <p:nvSpPr>
          <p:cNvPr id="74" name="TextBox 15"/>
          <p:cNvSpPr/>
          <p:nvPr/>
        </p:nvSpPr>
        <p:spPr>
          <a:xfrm>
            <a:off x="5460120" y="1940040"/>
            <a:ext cx="7367040" cy="430560"/>
          </a:xfrm>
          <a:prstGeom prst="rect">
            <a:avLst/>
          </a:prstGeom>
          <a:noFill/>
          <a:ln w="0">
            <a:noFill/>
          </a:ln>
        </p:spPr>
        <p:style>
          <a:lnRef idx="0"/>
          <a:fillRef idx="0"/>
          <a:effectRef idx="0"/>
          <a:fontRef idx="minor"/>
        </p:style>
        <p:txBody>
          <a:bodyPr lIns="0" rIns="0" tIns="0" bIns="0" anchor="t">
            <a:spAutoFit/>
          </a:bodyPr>
          <a:p>
            <a:pPr algn="ctr" defTabSz="914400">
              <a:lnSpc>
                <a:spcPts val="3192"/>
              </a:lnSpc>
            </a:pPr>
            <a:r>
              <a:rPr lang="en-US" sz="3470" b="0" u="none" strike="noStrike">
                <a:solidFill>
                  <a:srgbClr val="d7e7c6"/>
                </a:solidFill>
                <a:effectLst/>
                <a:uFillTx/>
                <a:latin typeface="Pattanakarn Light"/>
                <a:ea typeface="Pattanakarn Light"/>
              </a:rPr>
              <a:t>THE HUMAN FIREWALL</a:t>
            </a:r>
            <a:endParaRPr lang="en-ZA" sz="3470" b="0" u="none" strike="noStrike">
              <a:solidFill>
                <a:srgbClr val="ffffff"/>
              </a:solidFill>
              <a:effectLst/>
              <a:uFillTx/>
              <a:latin typeface="Arial"/>
            </a:endParaRPr>
          </a:p>
        </p:txBody>
      </p:sp>
      <p:sp>
        <p:nvSpPr>
          <p:cNvPr id="75" name="TextBox 16"/>
          <p:cNvSpPr/>
          <p:nvPr/>
        </p:nvSpPr>
        <p:spPr>
          <a:xfrm>
            <a:off x="15780600" y="1066680"/>
            <a:ext cx="1487520" cy="17280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p:txBody>
      </p:sp>
      <p:sp>
        <p:nvSpPr>
          <p:cNvPr id="76" name="Freeform 17"/>
          <p:cNvSpPr/>
          <p:nvPr/>
        </p:nvSpPr>
        <p:spPr>
          <a:xfrm flipH="1">
            <a:off x="16448760" y="8442720"/>
            <a:ext cx="808920" cy="815040"/>
          </a:xfrm>
          <a:custGeom>
            <a:avLst/>
            <a:gdLst>
              <a:gd name="textAreaLeft" fmla="*/ 360 w 808920"/>
              <a:gd name="textAreaRight" fmla="*/ 810000 w 808920"/>
              <a:gd name="textAreaTop" fmla="*/ 0 h 815040"/>
              <a:gd name="textAreaBottom" fmla="*/ 815760 h 815040"/>
            </a:gdLst>
            <a:ahLst/>
            <a:cxnLst/>
            <a:rect l="textAreaLeft" t="textAreaTop" r="textAreaRight" b="textAreaBottom"/>
            <a:pathLst>
              <a:path w="809744" h="815676">
                <a:moveTo>
                  <a:pt x="809744" y="0"/>
                </a:moveTo>
                <a:lnTo>
                  <a:pt x="0" y="0"/>
                </a:lnTo>
                <a:lnTo>
                  <a:pt x="0" y="815676"/>
                </a:lnTo>
                <a:lnTo>
                  <a:pt x="809744" y="815676"/>
                </a:lnTo>
                <a:lnTo>
                  <a:pt x="809744" y="0"/>
                </a:lnTo>
                <a:close/>
              </a:path>
            </a:pathLst>
          </a:custGeom>
          <a:blipFill rotWithShape="0">
            <a:blip r:embed="rId12">
              <a:extLst>
                <a:ext uri="{96DAC541-7B7A-43D3-8B79-37D633B846F1}">
                  <asvg:svgBlip xmlns:asvg="http://schemas.microsoft.com/office/drawing/2016/SVG/main" r:embed="rId13"/>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40" presetClass="entr"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filter="fade" transition="in">
                                      <p:cBhvr additive="repl">
                                        <p:cTn id="7" dur="1000"/>
                                        <p:tgtEl>
                                          <p:spTgt spid="73"/>
                                        </p:tgtEl>
                                      </p:cBhvr>
                                    </p:animEffect>
                                    <p:anim calcmode="lin" valueType="num">
                                      <p:cBhvr additive="repl">
                                        <p:cTn id="8" dur="1000" fill="hold"/>
                                        <p:tgtEl>
                                          <p:spTgt spid="73"/>
                                        </p:tgtEl>
                                        <p:attrNameLst>
                                          <p:attrName>ppt_x</p:attrName>
                                        </p:attrNameLst>
                                      </p:cBhvr>
                                      <p:tavLst>
                                        <p:tav>
                                          <p:val>
                                            <p:strVal val="#ppt_x-.1"/>
                                          </p:val>
                                        </p:tav>
                                        <p:tav tm="100000">
                                          <p:val>
                                            <p:strVal val="#ppt_x"/>
                                          </p:val>
                                        </p:tav>
                                      </p:tavLst>
                                    </p:anim>
                                    <p:anim calcmode="lin" valueType="num">
                                      <p:cBhvr additive="repl">
                                        <p:cTn id="9" dur="1000" fill="hold"/>
                                        <p:tgtEl>
                                          <p:spTgt spid="73"/>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7"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78" name="Freeform 3"/>
          <p:cNvSpPr/>
          <p:nvPr/>
        </p:nvSpPr>
        <p:spPr>
          <a:xfrm>
            <a:off x="1908360" y="91792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grpSp>
        <p:nvGrpSpPr>
          <p:cNvPr id="79" name="Group 4"/>
          <p:cNvGrpSpPr/>
          <p:nvPr/>
        </p:nvGrpSpPr>
        <p:grpSpPr>
          <a:xfrm>
            <a:off x="11435760" y="5184000"/>
            <a:ext cx="9093600" cy="5987160"/>
            <a:chOff x="11435760" y="5184000"/>
            <a:chExt cx="9093600" cy="5987160"/>
          </a:xfrm>
        </p:grpSpPr>
        <p:sp>
          <p:nvSpPr>
            <p:cNvPr id="80" name="Freeform 5"/>
            <p:cNvSpPr/>
            <p:nvPr/>
          </p:nvSpPr>
          <p:spPr>
            <a:xfrm>
              <a:off x="11435760" y="5328720"/>
              <a:ext cx="9093600" cy="5842440"/>
            </a:xfrm>
            <a:custGeom>
              <a:avLst/>
              <a:gdLst>
                <a:gd name="textAreaLeft" fmla="*/ 0 w 9093600"/>
                <a:gd name="textAreaRight" fmla="*/ 9094320 w 9093600"/>
                <a:gd name="textAreaTop" fmla="*/ 0 h 5842440"/>
                <a:gd name="textAreaBottom" fmla="*/ 5843160 h 5842440"/>
              </a:gdLst>
              <a:ahLst/>
              <a:cxnLst/>
              <a:rect l="textAreaLeft" t="textAreaTop" r="textAreaRight" b="textAreaBottom"/>
              <a:pathLst>
                <a:path w="2395205" h="1538937">
                  <a:moveTo>
                    <a:pt x="8513" y="0"/>
                  </a:moveTo>
                  <a:lnTo>
                    <a:pt x="2386692" y="0"/>
                  </a:lnTo>
                  <a:cubicBezTo>
                    <a:pt x="2388950" y="0"/>
                    <a:pt x="2391115" y="897"/>
                    <a:pt x="2392712" y="2493"/>
                  </a:cubicBezTo>
                  <a:cubicBezTo>
                    <a:pt x="2394309" y="4090"/>
                    <a:pt x="2395205" y="6255"/>
                    <a:pt x="2395205" y="8513"/>
                  </a:cubicBezTo>
                  <a:lnTo>
                    <a:pt x="2395205" y="1530424"/>
                  </a:lnTo>
                  <a:cubicBezTo>
                    <a:pt x="2395205" y="1535125"/>
                    <a:pt x="2391394" y="1538937"/>
                    <a:pt x="2386692" y="1538937"/>
                  </a:cubicBezTo>
                  <a:lnTo>
                    <a:pt x="8513" y="1538937"/>
                  </a:lnTo>
                  <a:cubicBezTo>
                    <a:pt x="3811" y="1538937"/>
                    <a:pt x="0" y="1535125"/>
                    <a:pt x="0" y="1530424"/>
                  </a:cubicBezTo>
                  <a:lnTo>
                    <a:pt x="0" y="8513"/>
                  </a:lnTo>
                  <a:cubicBezTo>
                    <a:pt x="0" y="3811"/>
                    <a:pt x="3811" y="0"/>
                    <a:pt x="851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81" name="TextBox 6"/>
            <p:cNvSpPr/>
            <p:nvPr/>
          </p:nvSpPr>
          <p:spPr>
            <a:xfrm>
              <a:off x="11435760" y="5184000"/>
              <a:ext cx="9093600" cy="5987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82" name="Group 7"/>
          <p:cNvGrpSpPr/>
          <p:nvPr/>
        </p:nvGrpSpPr>
        <p:grpSpPr>
          <a:xfrm>
            <a:off x="12329280" y="5343840"/>
            <a:ext cx="5958000" cy="3913920"/>
            <a:chOff x="12329280" y="5343840"/>
            <a:chExt cx="5958000" cy="3913920"/>
          </a:xfrm>
        </p:grpSpPr>
        <p:sp>
          <p:nvSpPr>
            <p:cNvPr id="83" name="Freeform 8"/>
            <p:cNvSpPr/>
            <p:nvPr/>
          </p:nvSpPr>
          <p:spPr>
            <a:xfrm>
              <a:off x="12329280" y="5343840"/>
              <a:ext cx="5958000" cy="3913920"/>
            </a:xfrm>
            <a:custGeom>
              <a:avLst/>
              <a:gdLst>
                <a:gd name="textAreaLeft" fmla="*/ 0 w 5958000"/>
                <a:gd name="textAreaRight" fmla="*/ 5958720 w 5958000"/>
                <a:gd name="textAreaTop" fmla="*/ 0 h 3913920"/>
                <a:gd name="textAreaBottom" fmla="*/ 3914640 h 3913920"/>
              </a:gdLst>
              <a:ahLst/>
              <a:cxnLst/>
              <a:rect l="textAreaLeft" t="textAreaTop" r="textAreaRight" b="textAreaBottom"/>
              <a:pathLst>
                <a:path w="923182" h="606475">
                  <a:moveTo>
                    <a:pt x="0" y="0"/>
                  </a:moveTo>
                  <a:lnTo>
                    <a:pt x="923182" y="0"/>
                  </a:lnTo>
                  <a:lnTo>
                    <a:pt x="923182" y="606475"/>
                  </a:lnTo>
                  <a:lnTo>
                    <a:pt x="0" y="606475"/>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84" name="Freeform 9"/>
          <p:cNvSpPr/>
          <p:nvPr/>
        </p:nvSpPr>
        <p:spPr>
          <a:xfrm>
            <a:off x="12048480" y="8818920"/>
            <a:ext cx="1014840" cy="438840"/>
          </a:xfrm>
          <a:custGeom>
            <a:avLst/>
            <a:gdLst>
              <a:gd name="textAreaLeft" fmla="*/ 0 w 1014840"/>
              <a:gd name="textAreaRight" fmla="*/ 1015560 w 1014840"/>
              <a:gd name="textAreaTop" fmla="*/ 0 h 438840"/>
              <a:gd name="textAreaBottom" fmla="*/ 439560 h 438840"/>
            </a:gdLst>
            <a:ahLst/>
            <a:cxnLst/>
            <a:rect l="textAreaLeft" t="textAreaTop" r="textAreaRight" b="textAreaBottom"/>
            <a:pathLst>
              <a:path w="1015467" h="439420">
                <a:moveTo>
                  <a:pt x="0" y="0"/>
                </a:moveTo>
                <a:lnTo>
                  <a:pt x="1015467" y="0"/>
                </a:lnTo>
                <a:lnTo>
                  <a:pt x="1015467" y="439420"/>
                </a:lnTo>
                <a:lnTo>
                  <a:pt x="0" y="439420"/>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85" name="Freeform 10"/>
          <p:cNvSpPr/>
          <p:nvPr/>
        </p:nvSpPr>
        <p:spPr>
          <a:xfrm>
            <a:off x="6378840" y="9092880"/>
            <a:ext cx="1654920" cy="164880"/>
          </a:xfrm>
          <a:custGeom>
            <a:avLst/>
            <a:gdLst>
              <a:gd name="textAreaLeft" fmla="*/ 0 w 1654920"/>
              <a:gd name="textAreaRight" fmla="*/ 1655640 w 1654920"/>
              <a:gd name="textAreaTop" fmla="*/ 0 h 164880"/>
              <a:gd name="textAreaBottom" fmla="*/ 165600 h 164880"/>
            </a:gdLst>
            <a:ahLst/>
            <a:cxnLst/>
            <a:rect l="textAreaLeft" t="textAreaTop" r="textAreaRight" b="textAreaBottom"/>
            <a:pathLst>
              <a:path w="1655678" h="165568">
                <a:moveTo>
                  <a:pt x="0" y="0"/>
                </a:moveTo>
                <a:lnTo>
                  <a:pt x="1655679" y="0"/>
                </a:lnTo>
                <a:lnTo>
                  <a:pt x="1655679" y="165568"/>
                </a:lnTo>
                <a:lnTo>
                  <a:pt x="0" y="165568"/>
                </a:lnTo>
                <a:lnTo>
                  <a:pt x="0"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86" name="TextBox 11"/>
          <p:cNvSpPr/>
          <p:nvPr/>
        </p:nvSpPr>
        <p:spPr>
          <a:xfrm>
            <a:off x="1028880" y="3250440"/>
            <a:ext cx="11958840" cy="1110240"/>
          </a:xfrm>
          <a:prstGeom prst="rect">
            <a:avLst/>
          </a:prstGeom>
          <a:noFill/>
          <a:ln w="0">
            <a:noFill/>
          </a:ln>
        </p:spPr>
        <p:style>
          <a:lnRef idx="0"/>
          <a:fillRef idx="0"/>
          <a:effectRef idx="0"/>
          <a:fontRef idx="minor"/>
        </p:style>
        <p:txBody>
          <a:bodyPr lIns="0" rIns="0" tIns="0" bIns="0" anchor="t">
            <a:spAutoFit/>
          </a:bodyPr>
          <a:p>
            <a:pPr defTabSz="914400">
              <a:lnSpc>
                <a:spcPts val="8739"/>
              </a:lnSpc>
            </a:pPr>
            <a:r>
              <a:rPr lang="en-US" sz="9500" b="0" u="none" strike="noStrike">
                <a:solidFill>
                  <a:srgbClr val="a2dd39"/>
                </a:solidFill>
                <a:effectLst/>
                <a:uFillTx/>
                <a:latin typeface="Pattanakarn Light"/>
                <a:ea typeface="Pattanakarn Light"/>
              </a:rPr>
              <a:t>CYBERSECURITY</a:t>
            </a:r>
            <a:endParaRPr lang="en-ZA" sz="9500" b="0" u="none" strike="noStrike">
              <a:solidFill>
                <a:srgbClr val="ffffff"/>
              </a:solidFill>
              <a:effectLst/>
              <a:uFillTx/>
              <a:latin typeface="Arial"/>
            </a:endParaRPr>
          </a:p>
        </p:txBody>
      </p:sp>
      <p:sp>
        <p:nvSpPr>
          <p:cNvPr id="87" name="TextBox 12"/>
          <p:cNvSpPr/>
          <p:nvPr/>
        </p:nvSpPr>
        <p:spPr>
          <a:xfrm>
            <a:off x="1028880" y="2631600"/>
            <a:ext cx="5132160" cy="427320"/>
          </a:xfrm>
          <a:prstGeom prst="rect">
            <a:avLst/>
          </a:prstGeom>
          <a:noFill/>
          <a:ln w="0">
            <a:noFill/>
          </a:ln>
        </p:spPr>
        <p:style>
          <a:lnRef idx="0"/>
          <a:fillRef idx="0"/>
          <a:effectRef idx="0"/>
          <a:fontRef idx="minor"/>
        </p:style>
        <p:txBody>
          <a:bodyPr lIns="0" rIns="0" tIns="0" bIns="0" anchor="t">
            <a:spAutoFit/>
          </a:bodyPr>
          <a:p>
            <a:pPr defTabSz="914400">
              <a:lnSpc>
                <a:spcPts val="3192"/>
              </a:lnSpc>
            </a:pPr>
            <a:r>
              <a:rPr lang="en-US" sz="3470" b="0" u="none" strike="noStrike">
                <a:solidFill>
                  <a:srgbClr val="d7e7c6"/>
                </a:solidFill>
                <a:effectLst/>
                <a:uFillTx/>
                <a:latin typeface="Pattanakarn Light"/>
                <a:ea typeface="Pattanakarn Light"/>
              </a:rPr>
              <a:t>INTRODUCTION TO</a:t>
            </a:r>
            <a:endParaRPr lang="en-ZA" sz="3470" b="0" u="none" strike="noStrike">
              <a:solidFill>
                <a:srgbClr val="ffffff"/>
              </a:solidFill>
              <a:effectLst/>
              <a:uFillTx/>
              <a:latin typeface="Arial"/>
            </a:endParaRPr>
          </a:p>
        </p:txBody>
      </p:sp>
      <p:sp>
        <p:nvSpPr>
          <p:cNvPr id="88" name="TextBox 13"/>
          <p:cNvSpPr/>
          <p:nvPr/>
        </p:nvSpPr>
        <p:spPr>
          <a:xfrm>
            <a:off x="15771240" y="1066680"/>
            <a:ext cx="1487520" cy="33480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89" name="TextBox 14"/>
          <p:cNvSpPr/>
          <p:nvPr/>
        </p:nvSpPr>
        <p:spPr>
          <a:xfrm>
            <a:off x="1908360" y="5537880"/>
            <a:ext cx="3285720" cy="27756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Cybersecurity is the practice of protecting systems, networks, and data from digital attacks, theft, and damage. It involves technologies, processes, and awareness training that help organizations and individuals defend against threats like phishing, malware, and hacking. In the context of phishing awareness, cybersecurity emphasizes recognizing suspicious emails or messages, avoiding malicious links or attachments, and safeguarding sensitive information to prevent attackers from gaining unauthorized access.</a:t>
            </a:r>
            <a:endParaRPr lang="en-ZA" sz="1400" b="0" u="none" strike="noStrike">
              <a:solidFill>
                <a:srgbClr val="ffffff"/>
              </a:solidFill>
              <a:effectLst/>
              <a:uFillTx/>
              <a:latin typeface="Arial"/>
            </a:endParaRPr>
          </a:p>
        </p:txBody>
      </p:sp>
      <p:sp>
        <p:nvSpPr>
          <p:cNvPr id="90" name="TextBox 15"/>
          <p:cNvSpPr/>
          <p:nvPr/>
        </p:nvSpPr>
        <p:spPr>
          <a:xfrm>
            <a:off x="1908360" y="5328720"/>
            <a:ext cx="274248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What is cybersecurity?</a:t>
            </a:r>
            <a:endParaRPr lang="en-ZA" sz="1400" b="0" u="none" strike="noStrike">
              <a:solidFill>
                <a:srgbClr val="ffffff"/>
              </a:solidFill>
              <a:effectLst/>
              <a:uFillTx/>
              <a:latin typeface="Arial"/>
            </a:endParaRPr>
          </a:p>
        </p:txBody>
      </p:sp>
      <p:sp>
        <p:nvSpPr>
          <p:cNvPr id="91" name="TextBox 16"/>
          <p:cNvSpPr/>
          <p:nvPr/>
        </p:nvSpPr>
        <p:spPr>
          <a:xfrm>
            <a:off x="6378840" y="6179040"/>
            <a:ext cx="3285720" cy="2174760"/>
          </a:xfrm>
          <a:prstGeom prst="rect">
            <a:avLst/>
          </a:prstGeom>
          <a:noFill/>
          <a:ln w="0">
            <a:noFill/>
          </a:ln>
        </p:spPr>
        <p:style>
          <a:lnRef idx="0"/>
          <a:fillRef idx="0"/>
          <a:effectRef idx="0"/>
          <a:fontRef idx="minor"/>
        </p:style>
        <p:txBody>
          <a:bodyPr lIns="0" rIns="0" tIns="0" bIns="0" anchor="t">
            <a:spAutoFit/>
          </a:bodyPr>
          <a:p>
            <a:pPr marL="216000" indent="-216000" defTabSz="914400">
              <a:lnSpc>
                <a:spcPts val="1417"/>
              </a:lnSpc>
              <a:spcBef>
                <a:spcPts val="1191"/>
              </a:spcBef>
              <a:spcAft>
                <a:spcPts val="992"/>
              </a:spcAft>
              <a:buClr>
                <a:srgbClr val="d7e7c6"/>
              </a:buClr>
              <a:buFont typeface="Symbol" charset="2"/>
              <a:buChar char=""/>
            </a:pPr>
            <a:r>
              <a:rPr lang="en-US" sz="1400" b="0" u="none" strike="noStrike">
                <a:solidFill>
                  <a:srgbClr val="d7e7c6"/>
                </a:solidFill>
                <a:effectLst/>
                <a:uFillTx/>
                <a:latin typeface="Pattanakarn Light"/>
                <a:ea typeface="Pattanakarn Light"/>
              </a:rPr>
              <a:t>Rising phishing attacks: Scammers use convincing emails and messages to trick people into revealing sensitive data.</a:t>
            </a:r>
            <a:endParaRPr lang="en-ZA" sz="1400" b="0" u="none" strike="noStrike">
              <a:solidFill>
                <a:srgbClr val="ffffff"/>
              </a:solidFill>
              <a:effectLst/>
              <a:uFillTx/>
              <a:latin typeface="Arial"/>
            </a:endParaRPr>
          </a:p>
          <a:p>
            <a:pPr marL="216000" indent="-216000" defTabSz="914400">
              <a:lnSpc>
                <a:spcPts val="1417"/>
              </a:lnSpc>
              <a:spcBef>
                <a:spcPts val="1191"/>
              </a:spcBef>
              <a:spcAft>
                <a:spcPts val="992"/>
              </a:spcAft>
              <a:buClr>
                <a:srgbClr val="d7e7c6"/>
              </a:buClr>
              <a:buFont typeface="Symbol" charset="2"/>
              <a:buChar char=""/>
            </a:pPr>
            <a:r>
              <a:rPr lang="en-US" sz="1400" b="0" u="none" strike="noStrike">
                <a:solidFill>
                  <a:srgbClr val="d7e7c6"/>
                </a:solidFill>
                <a:effectLst/>
                <a:uFillTx/>
                <a:latin typeface="Pattanakarn Light"/>
                <a:ea typeface="Pattanakarn Light"/>
              </a:rPr>
              <a:t>High financial impact: Breaches can cost companies millions in recovery, fines, and lost trust.</a:t>
            </a:r>
            <a:endParaRPr lang="en-ZA" sz="1400" b="0" u="none" strike="noStrike">
              <a:solidFill>
                <a:srgbClr val="ffffff"/>
              </a:solidFill>
              <a:effectLst/>
              <a:uFillTx/>
              <a:latin typeface="Arial"/>
            </a:endParaRPr>
          </a:p>
          <a:p>
            <a:pPr marL="216000" indent="-216000" defTabSz="914400">
              <a:lnSpc>
                <a:spcPts val="1417"/>
              </a:lnSpc>
              <a:spcBef>
                <a:spcPts val="1191"/>
              </a:spcBef>
              <a:spcAft>
                <a:spcPts val="992"/>
              </a:spcAft>
              <a:buClr>
                <a:srgbClr val="d7e7c6"/>
              </a:buClr>
              <a:buFont typeface="Symbol" charset="2"/>
              <a:buChar char=""/>
            </a:pPr>
            <a:r>
              <a:rPr lang="en-US" sz="1400" b="0" u="none" strike="noStrike">
                <a:solidFill>
                  <a:srgbClr val="d7e7c6"/>
                </a:solidFill>
                <a:effectLst/>
                <a:uFillTx/>
                <a:latin typeface="Pattanakarn Light"/>
                <a:ea typeface="Pattanakarn Light"/>
              </a:rPr>
              <a:t>Global scale: Cyberattacks can disrupt governments, supply chains, and critical infrastructure.</a:t>
            </a:r>
            <a:endParaRPr lang="en-ZA" sz="1400" b="0" u="none" strike="noStrike">
              <a:solidFill>
                <a:srgbClr val="ffffff"/>
              </a:solidFill>
              <a:effectLst/>
              <a:uFillTx/>
              <a:latin typeface="Arial"/>
            </a:endParaRPr>
          </a:p>
        </p:txBody>
      </p:sp>
      <p:sp>
        <p:nvSpPr>
          <p:cNvPr id="92" name="TextBox 17"/>
          <p:cNvSpPr/>
          <p:nvPr/>
        </p:nvSpPr>
        <p:spPr>
          <a:xfrm>
            <a:off x="6378840" y="5724000"/>
            <a:ext cx="232740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Why it's more relevant than ever</a:t>
            </a:r>
            <a:endParaRPr lang="en-ZA" sz="1400" b="0" u="none" strike="noStrike">
              <a:solidFill>
                <a:srgbClr val="ffffff"/>
              </a:solidFill>
              <a:effectLst/>
              <a:uFillTx/>
              <a:latin typeface="Arial"/>
            </a:endParaRPr>
          </a:p>
        </p:txBody>
      </p:sp>
      <p:sp>
        <p:nvSpPr>
          <p:cNvPr id="93" name="TextBox 18"/>
          <p:cNvSpPr/>
          <p:nvPr/>
        </p:nvSpPr>
        <p:spPr>
          <a:xfrm>
            <a:off x="14260680" y="3255840"/>
            <a:ext cx="2997720" cy="935640"/>
          </a:xfrm>
          <a:prstGeom prst="rect">
            <a:avLst/>
          </a:prstGeom>
          <a:noFill/>
          <a:ln w="0">
            <a:noFill/>
          </a:ln>
        </p:spPr>
        <p:style>
          <a:lnRef idx="0"/>
          <a:fillRef idx="0"/>
          <a:effectRef idx="0"/>
          <a:fontRef idx="minor"/>
        </p:style>
        <p:txBody>
          <a:bodyPr lIns="0" rIns="0" tIns="0" bIns="0" anchor="t">
            <a:spAutoFit/>
          </a:bodyPr>
          <a:p>
            <a:pPr defTabSz="914400">
              <a:lnSpc>
                <a:spcPts val="2503"/>
              </a:lnSpc>
            </a:pPr>
            <a:r>
              <a:rPr lang="en-US" sz="2090" b="0" u="none" strike="noStrike">
                <a:solidFill>
                  <a:srgbClr val="d7e7c6"/>
                </a:solidFill>
                <a:effectLst/>
                <a:uFillTx/>
                <a:latin typeface="Pattanakarn Light"/>
                <a:ea typeface="Pattanakarn Light"/>
              </a:rPr>
              <a:t>95% of cybersecurity breaches are caused by human error.</a:t>
            </a:r>
            <a:endParaRPr lang="en-ZA" sz="2090" b="0" u="none" strike="noStrike">
              <a:solidFill>
                <a:srgbClr val="ffffff"/>
              </a:solidFill>
              <a:effectLst/>
              <a:uFillTx/>
              <a:latin typeface="Arial"/>
            </a:endParaRPr>
          </a:p>
        </p:txBody>
      </p:sp>
      <p:sp>
        <p:nvSpPr>
          <p:cNvPr id="94" name="TextBox 19"/>
          <p:cNvSpPr/>
          <p:nvPr/>
        </p:nvSpPr>
        <p:spPr>
          <a:xfrm>
            <a:off x="14260680" y="2898000"/>
            <a:ext cx="125028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Key stat</a:t>
            </a:r>
            <a:endParaRPr lang="en-ZA" sz="1400" b="0" u="none" strike="noStrike">
              <a:solidFill>
                <a:srgbClr val="ffffff"/>
              </a:solidFill>
              <a:effectLst/>
              <a:uFillTx/>
              <a:latin typeface="Arial"/>
            </a:endParaRPr>
          </a:p>
        </p:txBody>
      </p:sp>
      <p:sp>
        <p:nvSpPr>
          <p:cNvPr id="95" name="AutoShape 20"/>
          <p:cNvSpPr/>
          <p:nvPr/>
        </p:nvSpPr>
        <p:spPr>
          <a:xfrm>
            <a:off x="1908000" y="8404200"/>
            <a:ext cx="328680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96" name="AutoShape 21"/>
          <p:cNvSpPr/>
          <p:nvPr/>
        </p:nvSpPr>
        <p:spPr>
          <a:xfrm>
            <a:off x="6378840" y="8399520"/>
            <a:ext cx="328644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0" dur="indefinite" restart="never" nodeType="tmRoot">
          <p:childTnLst>
            <p:seq>
              <p:cTn id="11" dur="indefinite" nodeType="mainSeq">
                <p:childTnLst>
                  <p:par>
                    <p:cTn id="12" fill="hold">
                      <p:stCondLst>
                        <p:cond delay="0"/>
                      </p:stCondLst>
                      <p:childTnLst>
                        <p:par>
                          <p:cTn id="13" fill="hold">
                            <p:stCondLst>
                              <p:cond delay="0"/>
                            </p:stCondLst>
                            <p:childTnLst>
                              <p:par>
                                <p:cTn id="14" presetID="40" presetClass="entr" fill="hold" nodeType="afterEffect">
                                  <p:stCondLst>
                                    <p:cond delay="0"/>
                                  </p:stCondLst>
                                  <p:childTnLst>
                                    <p:set>
                                      <p:cBhvr>
                                        <p:cTn id="15" dur="1" fill="hold">
                                          <p:stCondLst>
                                            <p:cond delay="0"/>
                                          </p:stCondLst>
                                        </p:cTn>
                                        <p:tgtEl>
                                          <p:spTgt spid="86"/>
                                        </p:tgtEl>
                                        <p:attrNameLst>
                                          <p:attrName>style.visibility</p:attrName>
                                        </p:attrNameLst>
                                      </p:cBhvr>
                                      <p:to>
                                        <p:strVal val="visible"/>
                                      </p:to>
                                    </p:set>
                                    <p:animEffect filter="fade" transition="in">
                                      <p:cBhvr additive="repl">
                                        <p:cTn id="16" dur="1000"/>
                                        <p:tgtEl>
                                          <p:spTgt spid="86"/>
                                        </p:tgtEl>
                                      </p:cBhvr>
                                    </p:animEffect>
                                    <p:anim calcmode="lin" valueType="num">
                                      <p:cBhvr additive="repl">
                                        <p:cTn id="17" dur="1000" fill="hold"/>
                                        <p:tgtEl>
                                          <p:spTgt spid="86"/>
                                        </p:tgtEl>
                                        <p:attrNameLst>
                                          <p:attrName>ppt_x</p:attrName>
                                        </p:attrNameLst>
                                      </p:cBhvr>
                                      <p:tavLst>
                                        <p:tav>
                                          <p:val>
                                            <p:strVal val="#ppt_x-.1"/>
                                          </p:val>
                                        </p:tav>
                                        <p:tav tm="100000">
                                          <p:val>
                                            <p:strVal val="#ppt_x"/>
                                          </p:val>
                                        </p:tav>
                                      </p:tavLst>
                                    </p:anim>
                                    <p:anim calcmode="lin" valueType="num">
                                      <p:cBhvr additive="repl">
                                        <p:cTn id="18" dur="1000" fill="hold"/>
                                        <p:tgtEl>
                                          <p:spTgt spid="86"/>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7"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nvGrpSpPr>
          <p:cNvPr id="98" name="Group 3"/>
          <p:cNvGrpSpPr/>
          <p:nvPr/>
        </p:nvGrpSpPr>
        <p:grpSpPr>
          <a:xfrm>
            <a:off x="-2625480" y="2077200"/>
            <a:ext cx="9093600" cy="8549640"/>
            <a:chOff x="-2625480" y="2077200"/>
            <a:chExt cx="9093600" cy="8549640"/>
          </a:xfrm>
        </p:grpSpPr>
        <p:sp>
          <p:nvSpPr>
            <p:cNvPr id="99" name="Freeform 4"/>
            <p:cNvSpPr/>
            <p:nvPr/>
          </p:nvSpPr>
          <p:spPr>
            <a:xfrm>
              <a:off x="-2625480" y="2221920"/>
              <a:ext cx="9093600" cy="8404920"/>
            </a:xfrm>
            <a:custGeom>
              <a:avLst/>
              <a:gdLst>
                <a:gd name="textAreaLeft" fmla="*/ 0 w 9093600"/>
                <a:gd name="textAreaRight" fmla="*/ 9094320 w 9093600"/>
                <a:gd name="textAreaTop" fmla="*/ 0 h 8404920"/>
                <a:gd name="textAreaBottom" fmla="*/ 8405640 h 8404920"/>
              </a:gdLst>
              <a:ahLst/>
              <a:cxnLst/>
              <a:rect l="textAreaLeft" t="textAreaTop" r="textAreaRight" b="textAreaBottom"/>
              <a:pathLst>
                <a:path w="2395205" h="2213812">
                  <a:moveTo>
                    <a:pt x="8513" y="0"/>
                  </a:moveTo>
                  <a:lnTo>
                    <a:pt x="2386692" y="0"/>
                  </a:lnTo>
                  <a:cubicBezTo>
                    <a:pt x="2388950" y="0"/>
                    <a:pt x="2391115" y="897"/>
                    <a:pt x="2392712" y="2493"/>
                  </a:cubicBezTo>
                  <a:cubicBezTo>
                    <a:pt x="2394309" y="4090"/>
                    <a:pt x="2395205" y="6255"/>
                    <a:pt x="2395205" y="8513"/>
                  </a:cubicBezTo>
                  <a:lnTo>
                    <a:pt x="2395205" y="2205299"/>
                  </a:lnTo>
                  <a:cubicBezTo>
                    <a:pt x="2395205" y="2210001"/>
                    <a:pt x="2391394" y="2213812"/>
                    <a:pt x="2386692" y="2213812"/>
                  </a:cubicBezTo>
                  <a:lnTo>
                    <a:pt x="8513" y="2213812"/>
                  </a:lnTo>
                  <a:cubicBezTo>
                    <a:pt x="3811" y="2213812"/>
                    <a:pt x="0" y="2210001"/>
                    <a:pt x="0" y="2205299"/>
                  </a:cubicBezTo>
                  <a:lnTo>
                    <a:pt x="0" y="8513"/>
                  </a:lnTo>
                  <a:cubicBezTo>
                    <a:pt x="0" y="3811"/>
                    <a:pt x="3811" y="0"/>
                    <a:pt x="851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100" name="TextBox 5"/>
            <p:cNvSpPr/>
            <p:nvPr/>
          </p:nvSpPr>
          <p:spPr>
            <a:xfrm>
              <a:off x="-2625480" y="2077200"/>
              <a:ext cx="9093600" cy="85496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101" name="Group 6"/>
          <p:cNvGrpSpPr/>
          <p:nvPr/>
        </p:nvGrpSpPr>
        <p:grpSpPr>
          <a:xfrm>
            <a:off x="0" y="2237040"/>
            <a:ext cx="5249520" cy="6162840"/>
            <a:chOff x="0" y="2237040"/>
            <a:chExt cx="5249520" cy="6162840"/>
          </a:xfrm>
        </p:grpSpPr>
        <p:sp>
          <p:nvSpPr>
            <p:cNvPr id="102" name="Freeform 7"/>
            <p:cNvSpPr/>
            <p:nvPr/>
          </p:nvSpPr>
          <p:spPr>
            <a:xfrm>
              <a:off x="0" y="2237040"/>
              <a:ext cx="5249520" cy="6162840"/>
            </a:xfrm>
            <a:custGeom>
              <a:avLst/>
              <a:gdLst>
                <a:gd name="textAreaLeft" fmla="*/ 0 w 5249520"/>
                <a:gd name="textAreaRight" fmla="*/ 5250240 w 5249520"/>
                <a:gd name="textAreaTop" fmla="*/ 0 h 6162840"/>
                <a:gd name="textAreaBottom" fmla="*/ 6163560 h 6162840"/>
              </a:gdLst>
              <a:ahLst/>
              <a:cxnLst/>
              <a:rect l="textAreaLeft" t="textAreaTop" r="textAreaRight" b="textAreaBottom"/>
              <a:pathLst>
                <a:path w="813396" h="954899">
                  <a:moveTo>
                    <a:pt x="0" y="0"/>
                  </a:moveTo>
                  <a:lnTo>
                    <a:pt x="813396" y="0"/>
                  </a:lnTo>
                  <a:lnTo>
                    <a:pt x="813396" y="954899"/>
                  </a:lnTo>
                  <a:lnTo>
                    <a:pt x="0" y="954899"/>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103" name="Freeform 8"/>
          <p:cNvSpPr/>
          <p:nvPr/>
        </p:nvSpPr>
        <p:spPr>
          <a:xfrm>
            <a:off x="3594600" y="9092880"/>
            <a:ext cx="1654920" cy="164880"/>
          </a:xfrm>
          <a:custGeom>
            <a:avLst/>
            <a:gdLst>
              <a:gd name="textAreaLeft" fmla="*/ 0 w 1654920"/>
              <a:gd name="textAreaRight" fmla="*/ 1655640 w 1654920"/>
              <a:gd name="textAreaTop" fmla="*/ 0 h 164880"/>
              <a:gd name="textAreaBottom" fmla="*/ 165600 h 164880"/>
            </a:gdLst>
            <a:ahLst/>
            <a:cxnLst/>
            <a:rect l="textAreaLeft" t="textAreaTop" r="textAreaRight" b="textAreaBottom"/>
            <a:pathLst>
              <a:path w="1655678" h="165568">
                <a:moveTo>
                  <a:pt x="0" y="0"/>
                </a:moveTo>
                <a:lnTo>
                  <a:pt x="1655678" y="0"/>
                </a:lnTo>
                <a:lnTo>
                  <a:pt x="1655678" y="165568"/>
                </a:lnTo>
                <a:lnTo>
                  <a:pt x="0" y="165568"/>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04" name="Freeform 9"/>
          <p:cNvSpPr/>
          <p:nvPr/>
        </p:nvSpPr>
        <p:spPr>
          <a:xfrm>
            <a:off x="8281080" y="8629560"/>
            <a:ext cx="1451880" cy="627840"/>
          </a:xfrm>
          <a:custGeom>
            <a:avLst/>
            <a:gdLst>
              <a:gd name="textAreaLeft" fmla="*/ 0 w 1451880"/>
              <a:gd name="textAreaRight" fmla="*/ 1452600 w 1451880"/>
              <a:gd name="textAreaTop" fmla="*/ 0 h 627840"/>
              <a:gd name="textAreaBottom" fmla="*/ 628560 h 627840"/>
            </a:gdLst>
            <a:ahLst/>
            <a:cxnLst/>
            <a:rect l="textAreaLeft" t="textAreaTop" r="textAreaRight" b="textAreaBottom"/>
            <a:pathLst>
              <a:path w="1452763" h="628650">
                <a:moveTo>
                  <a:pt x="0" y="0"/>
                </a:moveTo>
                <a:lnTo>
                  <a:pt x="1452763" y="0"/>
                </a:lnTo>
                <a:lnTo>
                  <a:pt x="1452763" y="628650"/>
                </a:lnTo>
                <a:lnTo>
                  <a:pt x="0" y="628650"/>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05" name="AutoShape 10"/>
          <p:cNvSpPr/>
          <p:nvPr/>
        </p:nvSpPr>
        <p:spPr>
          <a:xfrm>
            <a:off x="13025520" y="7985880"/>
            <a:ext cx="423360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106" name="Freeform 11"/>
          <p:cNvSpPr/>
          <p:nvPr/>
        </p:nvSpPr>
        <p:spPr>
          <a:xfrm>
            <a:off x="1028880" y="91792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107" name="TextBox 12"/>
          <p:cNvSpPr/>
          <p:nvPr/>
        </p:nvSpPr>
        <p:spPr>
          <a:xfrm>
            <a:off x="8281080" y="2426040"/>
            <a:ext cx="8529840" cy="2299320"/>
          </a:xfrm>
          <a:prstGeom prst="rect">
            <a:avLst/>
          </a:prstGeom>
          <a:noFill/>
          <a:ln w="0">
            <a:noFill/>
          </a:ln>
        </p:spPr>
        <p:style>
          <a:lnRef idx="0"/>
          <a:fillRef idx="0"/>
          <a:effectRef idx="0"/>
          <a:fontRef idx="minor"/>
        </p:style>
        <p:txBody>
          <a:bodyPr lIns="0" rIns="0" tIns="0" bIns="0" anchor="t">
            <a:spAutoFit/>
          </a:bodyPr>
          <a:p>
            <a:pPr defTabSz="914400">
              <a:lnSpc>
                <a:spcPts val="8739"/>
              </a:lnSpc>
            </a:pPr>
            <a:r>
              <a:rPr lang="en-US" sz="9500" b="0" u="none" strike="noStrike">
                <a:solidFill>
                  <a:srgbClr val="a2dd39"/>
                </a:solidFill>
                <a:effectLst/>
                <a:uFillTx/>
                <a:latin typeface="Pattanakarn Light"/>
                <a:ea typeface="Pattanakarn Light"/>
              </a:rPr>
              <a:t>THE HUMAN ELEMENT</a:t>
            </a:r>
            <a:endParaRPr lang="en-ZA" sz="9500" b="0" u="none" strike="noStrike">
              <a:solidFill>
                <a:srgbClr val="ffffff"/>
              </a:solidFill>
              <a:effectLst/>
              <a:uFillTx/>
              <a:latin typeface="Arial"/>
            </a:endParaRPr>
          </a:p>
        </p:txBody>
      </p:sp>
      <p:sp>
        <p:nvSpPr>
          <p:cNvPr id="108" name="TextBox 13"/>
          <p:cNvSpPr/>
          <p:nvPr/>
        </p:nvSpPr>
        <p:spPr>
          <a:xfrm>
            <a:off x="8281080" y="4744080"/>
            <a:ext cx="5914440" cy="427320"/>
          </a:xfrm>
          <a:prstGeom prst="rect">
            <a:avLst/>
          </a:prstGeom>
          <a:noFill/>
          <a:ln w="0">
            <a:noFill/>
          </a:ln>
        </p:spPr>
        <p:style>
          <a:lnRef idx="0"/>
          <a:fillRef idx="0"/>
          <a:effectRef idx="0"/>
          <a:fontRef idx="minor"/>
        </p:style>
        <p:txBody>
          <a:bodyPr lIns="0" rIns="0" tIns="0" bIns="0" anchor="t">
            <a:spAutoFit/>
          </a:bodyPr>
          <a:p>
            <a:pPr defTabSz="914400">
              <a:lnSpc>
                <a:spcPts val="3192"/>
              </a:lnSpc>
            </a:pPr>
            <a:r>
              <a:rPr lang="en-US" sz="3470" b="0" u="none" strike="noStrike">
                <a:solidFill>
                  <a:srgbClr val="d7e7c6"/>
                </a:solidFill>
                <a:effectLst/>
                <a:uFillTx/>
                <a:latin typeface="Pattanakarn Light"/>
                <a:ea typeface="Pattanakarn Light"/>
              </a:rPr>
              <a:t>IN CYBERSECURITY</a:t>
            </a:r>
            <a:endParaRPr lang="en-ZA" sz="3470" b="0" u="none" strike="noStrike">
              <a:solidFill>
                <a:srgbClr val="ffffff"/>
              </a:solidFill>
              <a:effectLst/>
              <a:uFillTx/>
              <a:latin typeface="Arial"/>
            </a:endParaRPr>
          </a:p>
        </p:txBody>
      </p:sp>
      <p:sp>
        <p:nvSpPr>
          <p:cNvPr id="109" name="TextBox 14"/>
          <p:cNvSpPr/>
          <p:nvPr/>
        </p:nvSpPr>
        <p:spPr>
          <a:xfrm>
            <a:off x="15771240" y="1066680"/>
            <a:ext cx="1487520" cy="33480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110" name="TextBox 15"/>
          <p:cNvSpPr/>
          <p:nvPr/>
        </p:nvSpPr>
        <p:spPr>
          <a:xfrm>
            <a:off x="8280000" y="6325560"/>
            <a:ext cx="3690000" cy="213408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Think of cybersecurity like a castle. The firewalls, encryption, and security software are the stone walls and towers, but the guards at the gate—the people—are the first to spot intruders trying to sneak in. If the guards let someone disguised as a friend walk through without checking, the whole castle is at risk. That’s why employees, through vigilance and awareness, act as the true first line of defense</a:t>
            </a:r>
            <a:endParaRPr lang="en-ZA" sz="1400" b="0" u="none" strike="noStrike">
              <a:solidFill>
                <a:srgbClr val="ffffff"/>
              </a:solidFill>
              <a:effectLst/>
              <a:uFillTx/>
              <a:latin typeface="Arial"/>
            </a:endParaRPr>
          </a:p>
        </p:txBody>
      </p:sp>
      <p:sp>
        <p:nvSpPr>
          <p:cNvPr id="111" name="TextBox 16"/>
          <p:cNvSpPr/>
          <p:nvPr/>
        </p:nvSpPr>
        <p:spPr>
          <a:xfrm>
            <a:off x="8281080" y="5874120"/>
            <a:ext cx="220356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People as the first line of defense</a:t>
            </a:r>
            <a:endParaRPr lang="en-ZA" sz="1400" b="0" u="none" strike="noStrike">
              <a:solidFill>
                <a:srgbClr val="ffffff"/>
              </a:solidFill>
              <a:effectLst/>
              <a:uFillTx/>
              <a:latin typeface="Arial"/>
            </a:endParaRPr>
          </a:p>
        </p:txBody>
      </p:sp>
      <p:sp>
        <p:nvSpPr>
          <p:cNvPr id="112" name="TextBox 17"/>
          <p:cNvSpPr/>
          <p:nvPr/>
        </p:nvSpPr>
        <p:spPr>
          <a:xfrm>
            <a:off x="13025520" y="5864760"/>
            <a:ext cx="3548160" cy="656640"/>
          </a:xfrm>
          <a:prstGeom prst="rect">
            <a:avLst/>
          </a:prstGeom>
          <a:noFill/>
          <a:ln w="0">
            <a:noFill/>
          </a:ln>
        </p:spPr>
        <p:style>
          <a:lnRef idx="0"/>
          <a:fillRef idx="0"/>
          <a:effectRef idx="0"/>
          <a:fontRef idx="minor"/>
        </p:style>
        <p:txBody>
          <a:bodyPr lIns="0" rIns="0" tIns="0" bIns="0" anchor="t">
            <a:spAutoFit/>
          </a:bodyPr>
          <a:p>
            <a:pPr defTabSz="914400">
              <a:lnSpc>
                <a:spcPts val="2602"/>
              </a:lnSpc>
            </a:pPr>
            <a:r>
              <a:rPr lang="en-US" sz="2170" b="1" u="none" strike="noStrike">
                <a:solidFill>
                  <a:srgbClr val="a2dd39"/>
                </a:solidFill>
                <a:effectLst/>
                <a:uFillTx/>
                <a:latin typeface="Pattanakarn Bold"/>
                <a:ea typeface="Pattanakarn Bold"/>
              </a:rPr>
              <a:t>Common attack vectors that target humans</a:t>
            </a:r>
            <a:endParaRPr lang="en-ZA" sz="2170" b="0" u="none" strike="noStrike">
              <a:solidFill>
                <a:srgbClr val="ffffff"/>
              </a:solidFill>
              <a:effectLst/>
              <a:uFillTx/>
              <a:latin typeface="Arial"/>
            </a:endParaRPr>
          </a:p>
        </p:txBody>
      </p:sp>
      <p:sp>
        <p:nvSpPr>
          <p:cNvPr id="113" name="TextBox 18"/>
          <p:cNvSpPr/>
          <p:nvPr/>
        </p:nvSpPr>
        <p:spPr>
          <a:xfrm>
            <a:off x="13025520" y="6931800"/>
            <a:ext cx="4122000" cy="627840"/>
          </a:xfrm>
          <a:prstGeom prst="rect">
            <a:avLst/>
          </a:prstGeom>
          <a:noFill/>
          <a:ln w="0">
            <a:noFill/>
          </a:ln>
        </p:spPr>
        <p:style>
          <a:lnRef idx="0"/>
          <a:fillRef idx="0"/>
          <a:effectRef idx="0"/>
          <a:fontRef idx="minor"/>
        </p:style>
        <p:txBody>
          <a:bodyPr lIns="0" rIns="0" tIns="0" bIns="0" anchor="t">
            <a:spAutoFit/>
          </a:bodyPr>
          <a:p>
            <a:pPr defTabSz="914400">
              <a:lnSpc>
                <a:spcPts val="2520"/>
              </a:lnSpc>
            </a:pPr>
            <a:r>
              <a:rPr lang="en-US" sz="2100" b="0" u="none" strike="noStrike">
                <a:solidFill>
                  <a:srgbClr val="d7e7c6"/>
                </a:solidFill>
                <a:effectLst/>
                <a:uFillTx/>
                <a:latin typeface="Pattanakarn Light"/>
                <a:ea typeface="Pattanakarn Light"/>
              </a:rPr>
              <a:t>Phishing, social engineering, weak passwords</a:t>
            </a:r>
            <a:endParaRPr lang="en-ZA" sz="2100" b="0" u="none" strike="noStrike">
              <a:solidFill>
                <a:srgbClr val="ffffff"/>
              </a:solidFill>
              <a:effectLst/>
              <a:uFillTx/>
              <a:latin typeface="Arial"/>
            </a:endParaRPr>
          </a:p>
        </p:txBody>
      </p:sp>
      <p:sp>
        <p:nvSpPr>
          <p:cNvPr id="114" name="TextBox 19"/>
          <p:cNvSpPr/>
          <p:nvPr/>
        </p:nvSpPr>
        <p:spPr>
          <a:xfrm>
            <a:off x="13025520" y="8629560"/>
            <a:ext cx="3206160" cy="959760"/>
          </a:xfrm>
          <a:prstGeom prst="rect">
            <a:avLst/>
          </a:prstGeom>
          <a:noFill/>
          <a:ln w="0">
            <a:noFill/>
          </a:ln>
        </p:spPr>
        <p:style>
          <a:lnRef idx="0"/>
          <a:fillRef idx="0"/>
          <a:effectRef idx="0"/>
          <a:fontRef idx="minor"/>
        </p:style>
        <p:txBody>
          <a:bodyPr lIns="0" rIns="0" tIns="0" bIns="0" anchor="t">
            <a:spAutoFit/>
          </a:bodyPr>
          <a:p>
            <a:pPr defTabSz="914400">
              <a:lnSpc>
                <a:spcPts val="2520"/>
              </a:lnSpc>
            </a:pPr>
            <a:r>
              <a:rPr lang="en-US" sz="2100" b="0" u="none" strike="noStrike">
                <a:solidFill>
                  <a:srgbClr val="d7e7c6"/>
                </a:solidFill>
                <a:effectLst/>
                <a:uFillTx/>
                <a:latin typeface="Pattanakarn Light"/>
                <a:ea typeface="Pattanakarn Light"/>
              </a:rPr>
              <a:t>Cybersecurity isn’t just IT's</a:t>
            </a:r>
            <a:r>
              <a:rPr lang="en-US" sz="2100" b="0" u="none" strike="noStrike">
                <a:solidFill>
                  <a:srgbClr val="d7e7c6"/>
                </a:solidFill>
                <a:effectLst/>
                <a:uFillTx/>
                <a:latin typeface="Pattanakarn Light"/>
                <a:ea typeface="Pattanakarn Light"/>
              </a:rPr>
              <a:t> responsibility, It’s all our responsibility</a:t>
            </a:r>
            <a:endParaRPr lang="en-ZA" sz="2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9" dur="indefinite" restart="never" nodeType="tmRoot">
          <p:childTnLst>
            <p:seq>
              <p:cTn id="20" dur="indefinite" nodeType="mainSeq">
                <p:childTnLst>
                  <p:par>
                    <p:cTn id="21" fill="hold">
                      <p:stCondLst>
                        <p:cond delay="0"/>
                      </p:stCondLst>
                      <p:childTnLst>
                        <p:par>
                          <p:cTn id="22" fill="hold">
                            <p:stCondLst>
                              <p:cond delay="0"/>
                            </p:stCondLst>
                            <p:childTnLst>
                              <p:par>
                                <p:cTn id="23" presetID="40" presetClass="entr" fill="hold" nodeType="afterEffect">
                                  <p:stCondLst>
                                    <p:cond delay="0"/>
                                  </p:stCondLst>
                                  <p:childTnLst>
                                    <p:set>
                                      <p:cBhvr>
                                        <p:cTn id="24" dur="1" fill="hold">
                                          <p:stCondLst>
                                            <p:cond delay="0"/>
                                          </p:stCondLst>
                                        </p:cTn>
                                        <p:tgtEl>
                                          <p:spTgt spid="107"/>
                                        </p:tgtEl>
                                        <p:attrNameLst>
                                          <p:attrName>style.visibility</p:attrName>
                                        </p:attrNameLst>
                                      </p:cBhvr>
                                      <p:to>
                                        <p:strVal val="visible"/>
                                      </p:to>
                                    </p:set>
                                    <p:animEffect filter="fade" transition="in">
                                      <p:cBhvr additive="repl">
                                        <p:cTn id="25" dur="1000"/>
                                        <p:tgtEl>
                                          <p:spTgt spid="107"/>
                                        </p:tgtEl>
                                      </p:cBhvr>
                                    </p:animEffect>
                                    <p:anim calcmode="lin" valueType="num">
                                      <p:cBhvr additive="repl">
                                        <p:cTn id="26" dur="1000" fill="hold"/>
                                        <p:tgtEl>
                                          <p:spTgt spid="107"/>
                                        </p:tgtEl>
                                        <p:attrNameLst>
                                          <p:attrName>ppt_x</p:attrName>
                                        </p:attrNameLst>
                                      </p:cBhvr>
                                      <p:tavLst>
                                        <p:tav>
                                          <p:val>
                                            <p:strVal val="#ppt_x-.1"/>
                                          </p:val>
                                        </p:tav>
                                        <p:tav tm="100000">
                                          <p:val>
                                            <p:strVal val="#ppt_x"/>
                                          </p:val>
                                        </p:tav>
                                      </p:tavLst>
                                    </p:anim>
                                    <p:anim calcmode="lin" valueType="num">
                                      <p:cBhvr additive="repl">
                                        <p:cTn id="27" dur="1000" fill="hold"/>
                                        <p:tgtEl>
                                          <p:spTgt spid="107"/>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5"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16" name="AutoShape 3"/>
          <p:cNvSpPr/>
          <p:nvPr/>
        </p:nvSpPr>
        <p:spPr>
          <a:xfrm>
            <a:off x="1028520" y="8335800"/>
            <a:ext cx="254124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117" name="AutoShape 4"/>
          <p:cNvSpPr/>
          <p:nvPr/>
        </p:nvSpPr>
        <p:spPr>
          <a:xfrm>
            <a:off x="4404240" y="8331120"/>
            <a:ext cx="309816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118" name="Freeform 5"/>
          <p:cNvSpPr/>
          <p:nvPr/>
        </p:nvSpPr>
        <p:spPr>
          <a:xfrm>
            <a:off x="1028880" y="91792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grpSp>
        <p:nvGrpSpPr>
          <p:cNvPr id="119" name="Group 6"/>
          <p:cNvGrpSpPr/>
          <p:nvPr/>
        </p:nvGrpSpPr>
        <p:grpSpPr>
          <a:xfrm>
            <a:off x="8340840" y="4391280"/>
            <a:ext cx="12188880" cy="6176880"/>
            <a:chOff x="8340840" y="4391280"/>
            <a:chExt cx="12188880" cy="6176880"/>
          </a:xfrm>
        </p:grpSpPr>
        <p:sp>
          <p:nvSpPr>
            <p:cNvPr id="120" name="Freeform 7"/>
            <p:cNvSpPr/>
            <p:nvPr/>
          </p:nvSpPr>
          <p:spPr>
            <a:xfrm>
              <a:off x="8340840" y="4536000"/>
              <a:ext cx="12188880" cy="6032160"/>
            </a:xfrm>
            <a:custGeom>
              <a:avLst/>
              <a:gdLst>
                <a:gd name="textAreaLeft" fmla="*/ 0 w 12188880"/>
                <a:gd name="textAreaRight" fmla="*/ 12189600 w 12188880"/>
                <a:gd name="textAreaTop" fmla="*/ 0 h 6032160"/>
                <a:gd name="textAreaBottom" fmla="*/ 6032880 h 6032160"/>
              </a:gdLst>
              <a:ahLst/>
              <a:cxnLst/>
              <a:rect l="textAreaLeft" t="textAreaTop" r="textAreaRight" b="textAreaBottom"/>
              <a:pathLst>
                <a:path w="3210395" h="1588868">
                  <a:moveTo>
                    <a:pt x="6351" y="0"/>
                  </a:moveTo>
                  <a:lnTo>
                    <a:pt x="3204043" y="0"/>
                  </a:lnTo>
                  <a:cubicBezTo>
                    <a:pt x="3205728" y="0"/>
                    <a:pt x="3207343" y="669"/>
                    <a:pt x="3208534" y="1860"/>
                  </a:cubicBezTo>
                  <a:cubicBezTo>
                    <a:pt x="3209725" y="3051"/>
                    <a:pt x="3210395" y="4667"/>
                    <a:pt x="3210395" y="6351"/>
                  </a:cubicBezTo>
                  <a:lnTo>
                    <a:pt x="3210395" y="1582517"/>
                  </a:lnTo>
                  <a:cubicBezTo>
                    <a:pt x="3210395" y="1584202"/>
                    <a:pt x="3209725" y="1585817"/>
                    <a:pt x="3208534" y="1587008"/>
                  </a:cubicBezTo>
                  <a:cubicBezTo>
                    <a:pt x="3207343" y="1588199"/>
                    <a:pt x="3205728" y="1588868"/>
                    <a:pt x="3204043" y="1588868"/>
                  </a:cubicBezTo>
                  <a:lnTo>
                    <a:pt x="6351" y="1588868"/>
                  </a:lnTo>
                  <a:cubicBezTo>
                    <a:pt x="2844" y="1588868"/>
                    <a:pt x="0" y="1586025"/>
                    <a:pt x="0" y="1582517"/>
                  </a:cubicBezTo>
                  <a:lnTo>
                    <a:pt x="0" y="6351"/>
                  </a:lnTo>
                  <a:cubicBezTo>
                    <a:pt x="0" y="4667"/>
                    <a:pt x="669" y="3051"/>
                    <a:pt x="1860" y="1860"/>
                  </a:cubicBezTo>
                  <a:cubicBezTo>
                    <a:pt x="3051" y="669"/>
                    <a:pt x="4667" y="0"/>
                    <a:pt x="6351"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121" name="TextBox 8"/>
            <p:cNvSpPr/>
            <p:nvPr/>
          </p:nvSpPr>
          <p:spPr>
            <a:xfrm>
              <a:off x="8340840" y="4391280"/>
              <a:ext cx="12188880" cy="6176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sp>
        <p:nvSpPr>
          <p:cNvPr id="122" name="Freeform 11"/>
          <p:cNvSpPr/>
          <p:nvPr/>
        </p:nvSpPr>
        <p:spPr>
          <a:xfrm>
            <a:off x="13136760" y="2797200"/>
            <a:ext cx="4122000" cy="426600"/>
          </a:xfrm>
          <a:custGeom>
            <a:avLst/>
            <a:gdLst>
              <a:gd name="textAreaLeft" fmla="*/ 0 w 4122000"/>
              <a:gd name="textAreaRight" fmla="*/ 4122720 w 4122000"/>
              <a:gd name="textAreaTop" fmla="*/ 0 h 426600"/>
              <a:gd name="textAreaBottom" fmla="*/ 427320 h 426600"/>
            </a:gdLst>
            <a:ahLst/>
            <a:cxnLst/>
            <a:rect l="textAreaLeft" t="textAreaTop" r="textAreaRight" b="textAreaBottom"/>
            <a:pathLst>
              <a:path w="4122546" h="427246">
                <a:moveTo>
                  <a:pt x="0" y="0"/>
                </a:moveTo>
                <a:lnTo>
                  <a:pt x="4122546" y="0"/>
                </a:lnTo>
                <a:lnTo>
                  <a:pt x="4122546" y="427246"/>
                </a:lnTo>
                <a:lnTo>
                  <a:pt x="0" y="427246"/>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23" name="TextBox 12"/>
          <p:cNvSpPr/>
          <p:nvPr/>
        </p:nvSpPr>
        <p:spPr>
          <a:xfrm>
            <a:off x="1028880" y="2645640"/>
            <a:ext cx="12947040" cy="1194120"/>
          </a:xfrm>
          <a:prstGeom prst="rect">
            <a:avLst/>
          </a:prstGeom>
          <a:noFill/>
          <a:ln w="0">
            <a:noFill/>
          </a:ln>
        </p:spPr>
        <p:style>
          <a:lnRef idx="0"/>
          <a:fillRef idx="0"/>
          <a:effectRef idx="0"/>
          <a:fontRef idx="minor"/>
        </p:style>
        <p:txBody>
          <a:bodyPr lIns="0" rIns="0" tIns="0" bIns="0" anchor="t">
            <a:spAutoFit/>
          </a:bodyPr>
          <a:p>
            <a:pPr defTabSz="914400">
              <a:lnSpc>
                <a:spcPts val="8739"/>
              </a:lnSpc>
            </a:pPr>
            <a:r>
              <a:rPr lang="en-US" sz="9500" b="0" u="none" strike="noStrike">
                <a:solidFill>
                  <a:srgbClr val="a2dd39"/>
                </a:solidFill>
                <a:effectLst/>
                <a:uFillTx/>
                <a:latin typeface="Pattanakarn Light"/>
                <a:ea typeface="Pattanakarn Light"/>
              </a:rPr>
              <a:t>UNDERSTANDING</a:t>
            </a:r>
            <a:endParaRPr lang="en-ZA" sz="9500" b="0" u="none" strike="noStrike">
              <a:solidFill>
                <a:srgbClr val="ffffff"/>
              </a:solidFill>
              <a:effectLst/>
              <a:uFillTx/>
              <a:latin typeface="Arial"/>
            </a:endParaRPr>
          </a:p>
        </p:txBody>
      </p:sp>
      <p:sp>
        <p:nvSpPr>
          <p:cNvPr id="124" name="TextBox 13"/>
          <p:cNvSpPr/>
          <p:nvPr/>
        </p:nvSpPr>
        <p:spPr>
          <a:xfrm>
            <a:off x="1028880" y="3857760"/>
            <a:ext cx="8026920" cy="520200"/>
          </a:xfrm>
          <a:prstGeom prst="rect">
            <a:avLst/>
          </a:prstGeom>
          <a:noFill/>
          <a:ln w="0">
            <a:noFill/>
          </a:ln>
        </p:spPr>
        <p:style>
          <a:lnRef idx="0"/>
          <a:fillRef idx="0"/>
          <a:effectRef idx="0"/>
          <a:fontRef idx="minor"/>
        </p:style>
        <p:txBody>
          <a:bodyPr lIns="0" rIns="0" tIns="0" bIns="0" anchor="t">
            <a:spAutoFit/>
          </a:bodyPr>
          <a:p>
            <a:pPr defTabSz="914400">
              <a:lnSpc>
                <a:spcPts val="3864"/>
              </a:lnSpc>
            </a:pPr>
            <a:r>
              <a:rPr lang="en-US" sz="4200" b="0" u="none" strike="noStrike">
                <a:solidFill>
                  <a:srgbClr val="d7e7c6"/>
                </a:solidFill>
                <a:effectLst/>
                <a:uFillTx/>
                <a:latin typeface="Pattanakarn Light"/>
                <a:ea typeface="Pattanakarn Light"/>
              </a:rPr>
              <a:t>SOCIAL ENGINEERING</a:t>
            </a:r>
            <a:endParaRPr lang="en-ZA" sz="4200" b="0" u="none" strike="noStrike">
              <a:solidFill>
                <a:srgbClr val="ffffff"/>
              </a:solidFill>
              <a:effectLst/>
              <a:uFillTx/>
              <a:latin typeface="Arial"/>
            </a:endParaRPr>
          </a:p>
        </p:txBody>
      </p:sp>
      <p:sp>
        <p:nvSpPr>
          <p:cNvPr id="125" name="TextBox 14"/>
          <p:cNvSpPr/>
          <p:nvPr/>
        </p:nvSpPr>
        <p:spPr>
          <a:xfrm>
            <a:off x="15771240" y="1066680"/>
            <a:ext cx="1487520" cy="33480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126" name="TextBox 15"/>
          <p:cNvSpPr/>
          <p:nvPr/>
        </p:nvSpPr>
        <p:spPr>
          <a:xfrm>
            <a:off x="1028880" y="5835600"/>
            <a:ext cx="2718360" cy="290268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Definition:Social engineering is when attackers manipulate people into revealing information or taking actions that compromise security.</a:t>
            </a:r>
            <a:endParaRPr lang="en-ZA" sz="1400" b="0" u="none" strike="noStrike">
              <a:solidFill>
                <a:srgbClr val="ffffff"/>
              </a:solidFill>
              <a:effectLst/>
              <a:uFillTx/>
              <a:latin typeface="Arial"/>
            </a:endParaRPr>
          </a:p>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Example:A phishing email that looks like it’s from your bank, asking you to “verify” your account by clicking a link and entering your login details.</a:t>
            </a:r>
            <a:endParaRPr lang="en-ZA" sz="1400" b="0" u="none" strike="noStrike">
              <a:solidFill>
                <a:srgbClr val="ffffff"/>
              </a:solidFill>
              <a:effectLst/>
              <a:uFillTx/>
              <a:latin typeface="Arial"/>
            </a:endParaRPr>
          </a:p>
          <a:p>
            <a:pPr defTabSz="914400">
              <a:lnSpc>
                <a:spcPts val="1681"/>
              </a:lnSpc>
              <a:spcBef>
                <a:spcPts val="1191"/>
              </a:spcBef>
              <a:spcAft>
                <a:spcPts val="992"/>
              </a:spcAft>
            </a:pPr>
            <a:endParaRPr lang="en-ZA" sz="1400" b="0" u="none" strike="noStrike">
              <a:solidFill>
                <a:srgbClr val="ffffff"/>
              </a:solidFill>
              <a:effectLst/>
              <a:uFillTx/>
              <a:latin typeface="Arial"/>
            </a:endParaRPr>
          </a:p>
        </p:txBody>
      </p:sp>
      <p:sp>
        <p:nvSpPr>
          <p:cNvPr id="127" name="TextBox 16"/>
          <p:cNvSpPr/>
          <p:nvPr/>
        </p:nvSpPr>
        <p:spPr>
          <a:xfrm>
            <a:off x="1028880" y="5434560"/>
            <a:ext cx="254052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Definition and examples</a:t>
            </a:r>
            <a:endParaRPr lang="en-ZA" sz="1400" b="0" u="none" strike="noStrike">
              <a:solidFill>
                <a:srgbClr val="ffffff"/>
              </a:solidFill>
              <a:effectLst/>
              <a:uFillTx/>
              <a:latin typeface="Arial"/>
            </a:endParaRPr>
          </a:p>
        </p:txBody>
      </p:sp>
      <p:sp>
        <p:nvSpPr>
          <p:cNvPr id="128" name="TextBox 17"/>
          <p:cNvSpPr/>
          <p:nvPr/>
        </p:nvSpPr>
        <p:spPr>
          <a:xfrm>
            <a:off x="4404600" y="6045120"/>
            <a:ext cx="3097440" cy="360612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They often pretend to be trusted figures—like banks, employers, or colleagues—to gain credibility. At the same time, they use emotional triggers to push people into acting quickly without thinking:</a:t>
            </a:r>
            <a:endParaRPr lang="en-ZA" sz="1400" b="0" u="none" strike="noStrike">
              <a:solidFill>
                <a:srgbClr val="ffffff"/>
              </a:solidFill>
              <a:effectLst/>
              <a:uFillTx/>
              <a:latin typeface="Arial"/>
            </a:endParaRPr>
          </a:p>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Fear: Warning that your account will be locked or you’ll lose money unless you act immediately.</a:t>
            </a:r>
            <a:endParaRPr lang="en-ZA" sz="1400" b="0" u="none" strike="noStrike">
              <a:solidFill>
                <a:srgbClr val="ffffff"/>
              </a:solidFill>
              <a:effectLst/>
              <a:uFillTx/>
              <a:latin typeface="Arial"/>
            </a:endParaRPr>
          </a:p>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Empathy/Helpfulness: Appealing to kindness, such as pretending to be a coworker in need of assistance</a:t>
            </a:r>
            <a:r>
              <a:rPr lang="en-US" sz="1000" b="0" u="none" strike="noStrike">
                <a:solidFill>
                  <a:srgbClr val="d7e7c6"/>
                </a:solidFill>
                <a:effectLst/>
                <a:uFillTx/>
                <a:latin typeface="Pattanakarn Light"/>
                <a:ea typeface="Pattanakarn Light"/>
              </a:rPr>
              <a:t>.</a:t>
            </a:r>
            <a:endParaRPr lang="en-ZA" sz="1000" b="0" u="none" strike="noStrike">
              <a:solidFill>
                <a:srgbClr val="ffffff"/>
              </a:solidFill>
              <a:effectLst/>
              <a:uFillTx/>
              <a:latin typeface="Arial"/>
            </a:endParaRPr>
          </a:p>
          <a:p>
            <a:pPr defTabSz="914400">
              <a:lnSpc>
                <a:spcPts val="1681"/>
              </a:lnSpc>
              <a:spcBef>
                <a:spcPts val="1191"/>
              </a:spcBef>
              <a:spcAft>
                <a:spcPts val="992"/>
              </a:spcAft>
            </a:pPr>
            <a:endParaRPr lang="en-ZA" sz="1000" b="0" u="none" strike="noStrike">
              <a:solidFill>
                <a:srgbClr val="ffffff"/>
              </a:solidFill>
              <a:effectLst/>
              <a:uFillTx/>
              <a:latin typeface="Arial"/>
            </a:endParaRPr>
          </a:p>
        </p:txBody>
      </p:sp>
      <p:sp>
        <p:nvSpPr>
          <p:cNvPr id="129" name="TextBox 18"/>
          <p:cNvSpPr/>
          <p:nvPr/>
        </p:nvSpPr>
        <p:spPr>
          <a:xfrm>
            <a:off x="4404600" y="5434560"/>
            <a:ext cx="254052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How attackers manipulate trust and emotions</a:t>
            </a:r>
            <a:endParaRPr lang="en-ZA" sz="1400" b="0" u="none" strike="noStrike">
              <a:solidFill>
                <a:srgbClr val="ffffff"/>
              </a:solidFill>
              <a:effectLst/>
              <a:uFillTx/>
              <a:latin typeface="Arial"/>
            </a:endParaRPr>
          </a:p>
        </p:txBody>
      </p:sp>
      <p:sp>
        <p:nvSpPr>
          <p:cNvPr id="130" name="TextBox 19"/>
          <p:cNvSpPr/>
          <p:nvPr/>
        </p:nvSpPr>
        <p:spPr>
          <a:xfrm>
            <a:off x="13136760" y="5394960"/>
            <a:ext cx="4122000" cy="361080"/>
          </a:xfrm>
          <a:prstGeom prst="rect">
            <a:avLst/>
          </a:prstGeom>
          <a:noFill/>
          <a:ln w="0">
            <a:noFill/>
          </a:ln>
        </p:spPr>
        <p:style>
          <a:lnRef idx="0"/>
          <a:fillRef idx="0"/>
          <a:effectRef idx="0"/>
          <a:fontRef idx="minor"/>
        </p:style>
        <p:txBody>
          <a:bodyPr lIns="0" rIns="0" tIns="0" bIns="0" anchor="t">
            <a:spAutoFit/>
          </a:bodyPr>
          <a:p>
            <a:pPr defTabSz="914400">
              <a:lnSpc>
                <a:spcPts val="2880"/>
              </a:lnSpc>
            </a:pPr>
            <a:r>
              <a:rPr lang="en-US" sz="2400" b="1" u="none" strike="noStrike">
                <a:solidFill>
                  <a:srgbClr val="a2dd39"/>
                </a:solidFill>
                <a:effectLst/>
                <a:uFillTx/>
                <a:latin typeface="Pattanakarn Bold"/>
                <a:ea typeface="Pattanakarn Bold"/>
              </a:rPr>
              <a:t>Real-world case study</a:t>
            </a:r>
            <a:endParaRPr lang="en-ZA" sz="2400" b="0" u="none" strike="noStrike">
              <a:solidFill>
                <a:srgbClr val="ffffff"/>
              </a:solidFill>
              <a:effectLst/>
              <a:uFillTx/>
              <a:latin typeface="Arial"/>
            </a:endParaRPr>
          </a:p>
        </p:txBody>
      </p:sp>
      <p:sp>
        <p:nvSpPr>
          <p:cNvPr id="131" name="TextBox 20"/>
          <p:cNvSpPr/>
          <p:nvPr/>
        </p:nvSpPr>
        <p:spPr>
          <a:xfrm>
            <a:off x="13136760" y="5756040"/>
            <a:ext cx="4122000" cy="448344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The 2011 RSA breach was a landmark cyberattack in which hackers used a spear phishing email with a malicious Excel attachment exploiting a zero-day Adobe Flash vulnerability to infiltrate RSA’s network and deploy the Poison Ivy malware. Once inside, they escalated privileges and accessed sensitive data tied to RSA’s SecurID two-factor authentication tokens, widely used by government agencies and defense contractors. The incident compromised the security of over 40 million users, cost RSA’s parent company EMC more than $66 million in remediation, and exposed the vulnerabilities of even leading cybersecurity firms. Ultimately, it highlighted the critical need for employee awareness, stronger defenses against advanced persistent threats, and vigilance</a:t>
            </a:r>
            <a:endParaRPr lang="en-ZA" sz="1400" b="0" u="none" strike="noStrike">
              <a:solidFill>
                <a:srgbClr val="ffffff"/>
              </a:solidFill>
              <a:effectLst/>
              <a:uFillTx/>
              <a:latin typeface="Arial"/>
            </a:endParaRPr>
          </a:p>
          <a:p>
            <a:pPr defTabSz="914400">
              <a:lnSpc>
                <a:spcPts val="1681"/>
              </a:lnSpc>
            </a:pPr>
            <a:r>
              <a:rPr lang="en-US" sz="1400" b="0" u="none" strike="noStrike">
                <a:solidFill>
                  <a:srgbClr val="d7e7c6"/>
                </a:solidFill>
                <a:effectLst/>
                <a:uFillTx/>
                <a:latin typeface="Pattanakarn Light"/>
                <a:ea typeface="Pattanakarn Light"/>
              </a:rPr>
              <a:t>Security Is A Human Layer: RSA has advanced security</a:t>
            </a:r>
            <a:r>
              <a:rPr lang="en-US" sz="1400" b="0" u="none" strike="noStrike">
                <a:solidFill>
                  <a:srgbClr val="d7e7c6"/>
                </a:solidFill>
                <a:effectLst/>
                <a:uFillTx/>
                <a:latin typeface="Pattanakarn Light"/>
                <a:ea typeface="Pattanakarn Light"/>
              </a:rPr>
              <a:t> tools, but the human element-the decision</a:t>
            </a:r>
            <a:r>
              <a:rPr lang="en-US" sz="1400" b="0" u="none" strike="noStrike">
                <a:solidFill>
                  <a:srgbClr val="d7e7c6"/>
                </a:solidFill>
                <a:effectLst/>
                <a:uFillTx/>
                <a:latin typeface="Pattanakarn Light"/>
                <a:ea typeface="Pattanakarn Light"/>
              </a:rPr>
              <a:t> to open the an attachment was the critical vulnerability. This highlights that technology alone isn’t</a:t>
            </a:r>
            <a:r>
              <a:rPr lang="en-US" sz="1400" b="0" u="none" strike="noStrike">
                <a:solidFill>
                  <a:srgbClr val="d7e7c6"/>
                </a:solidFill>
                <a:effectLst/>
                <a:uFillTx/>
                <a:latin typeface="Pattanakarn Light"/>
                <a:ea typeface="Pattanakarn Light"/>
              </a:rPr>
              <a:t> enough</a:t>
            </a:r>
            <a:r>
              <a:rPr lang="en-US" sz="1400" b="0" u="none" strike="noStrike">
                <a:solidFill>
                  <a:srgbClr val="d7e7c6"/>
                </a:solidFill>
                <a:effectLst/>
                <a:uFillTx/>
                <a:latin typeface="Pattanakarn Light"/>
                <a:ea typeface="Pattanakarn Light"/>
              </a:rPr>
              <a:t> in protecting sensitive data.</a:t>
            </a:r>
            <a:endParaRPr lang="en-ZA" sz="1400" b="0" u="none" strike="noStrike">
              <a:solidFill>
                <a:srgbClr val="ffffff"/>
              </a:solidFill>
              <a:effectLst/>
              <a:uFillTx/>
              <a:latin typeface="Arial"/>
            </a:endParaRPr>
          </a:p>
          <a:p>
            <a:pPr defTabSz="914400">
              <a:lnSpc>
                <a:spcPts val="1681"/>
              </a:lnSpc>
            </a:pPr>
            <a:endParaRPr lang="en-ZA" sz="1800" b="0" u="none" strike="noStrike">
              <a:solidFill>
                <a:srgbClr val="ffffff"/>
              </a:solidFill>
              <a:effectLst/>
              <a:uFillTx/>
              <a:latin typeface="Arial"/>
            </a:endParaRPr>
          </a:p>
        </p:txBody>
      </p:sp>
      <p:pic>
        <p:nvPicPr>
          <p:cNvPr id="132" name=""/>
          <p:cNvPicPr/>
          <p:nvPr/>
        </p:nvPicPr>
        <p:blipFill>
          <a:blip r:embed="rId7"/>
          <a:stretch/>
        </p:blipFill>
        <p:spPr>
          <a:xfrm>
            <a:off x="8640000" y="4860000"/>
            <a:ext cx="4102920" cy="5246640"/>
          </a:xfrm>
          <a:prstGeom prst="rect">
            <a:avLst/>
          </a:prstGeom>
          <a:noFill/>
          <a:ln w="0">
            <a:noFill/>
          </a:ln>
        </p:spPr>
      </p:pic>
    </p:spTree>
  </p:cSld>
  <mc:AlternateContent>
    <mc:Choice Requires="p14">
      <p:transition spd="slow" p14:dur="2000"/>
    </mc:Choice>
    <mc:Fallback>
      <p:transition spd="slow"/>
    </mc:Fallback>
  </mc:AlternateContent>
  <p:timing>
    <p:tnLst>
      <p:par>
        <p:cTn id="28" dur="indefinite" restart="never" nodeType="tmRoot">
          <p:childTnLst>
            <p:seq>
              <p:cTn id="29" dur="indefinite" nodeType="mainSeq">
                <p:childTnLst>
                  <p:par>
                    <p:cTn id="30" fill="hold">
                      <p:stCondLst>
                        <p:cond delay="0"/>
                      </p:stCondLst>
                      <p:childTnLst>
                        <p:par>
                          <p:cTn id="31" fill="hold">
                            <p:stCondLst>
                              <p:cond delay="0"/>
                            </p:stCondLst>
                            <p:childTnLst>
                              <p:par>
                                <p:cTn id="32" presetID="40" presetClass="entr" fill="hold" nodeType="afterEffect">
                                  <p:stCondLst>
                                    <p:cond delay="0"/>
                                  </p:stCondLst>
                                  <p:childTnLst>
                                    <p:set>
                                      <p:cBhvr>
                                        <p:cTn id="33" dur="1" fill="hold">
                                          <p:stCondLst>
                                            <p:cond delay="0"/>
                                          </p:stCondLst>
                                        </p:cTn>
                                        <p:tgtEl>
                                          <p:spTgt spid="123"/>
                                        </p:tgtEl>
                                        <p:attrNameLst>
                                          <p:attrName>style.visibility</p:attrName>
                                        </p:attrNameLst>
                                      </p:cBhvr>
                                      <p:to>
                                        <p:strVal val="visible"/>
                                      </p:to>
                                    </p:set>
                                    <p:animEffect filter="fade" transition="in">
                                      <p:cBhvr additive="repl">
                                        <p:cTn id="34" dur="1000"/>
                                        <p:tgtEl>
                                          <p:spTgt spid="123"/>
                                        </p:tgtEl>
                                      </p:cBhvr>
                                    </p:animEffect>
                                    <p:anim calcmode="lin" valueType="num">
                                      <p:cBhvr additive="repl">
                                        <p:cTn id="35" dur="1000" fill="hold"/>
                                        <p:tgtEl>
                                          <p:spTgt spid="123"/>
                                        </p:tgtEl>
                                        <p:attrNameLst>
                                          <p:attrName>ppt_x</p:attrName>
                                        </p:attrNameLst>
                                      </p:cBhvr>
                                      <p:tavLst>
                                        <p:tav>
                                          <p:val>
                                            <p:strVal val="#ppt_x-.1"/>
                                          </p:val>
                                        </p:tav>
                                        <p:tav tm="100000">
                                          <p:val>
                                            <p:strVal val="#ppt_x"/>
                                          </p:val>
                                        </p:tav>
                                      </p:tavLst>
                                    </p:anim>
                                    <p:anim calcmode="lin" valueType="num">
                                      <p:cBhvr additive="repl">
                                        <p:cTn id="36" dur="1000" fill="hold"/>
                                        <p:tgtEl>
                                          <p:spTgt spid="123"/>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33" name="Group 2"/>
          <p:cNvGrpSpPr/>
          <p:nvPr/>
        </p:nvGrpSpPr>
        <p:grpSpPr>
          <a:xfrm>
            <a:off x="-2543760" y="-542880"/>
            <a:ext cx="13705560" cy="6840360"/>
            <a:chOff x="-2543760" y="-542880"/>
            <a:chExt cx="13705560" cy="6840360"/>
          </a:xfrm>
        </p:grpSpPr>
        <p:sp>
          <p:nvSpPr>
            <p:cNvPr id="134" name="Freeform 3"/>
            <p:cNvSpPr/>
            <p:nvPr/>
          </p:nvSpPr>
          <p:spPr>
            <a:xfrm>
              <a:off x="-2543760" y="-398160"/>
              <a:ext cx="13705560" cy="6695640"/>
            </a:xfrm>
            <a:custGeom>
              <a:avLst/>
              <a:gdLst>
                <a:gd name="textAreaLeft" fmla="*/ 0 w 13705560"/>
                <a:gd name="textAreaRight" fmla="*/ 13706280 w 13705560"/>
                <a:gd name="textAreaTop" fmla="*/ 0 h 6695640"/>
                <a:gd name="textAreaBottom" fmla="*/ 6696360 h 6695640"/>
              </a:gdLst>
              <a:ahLst/>
              <a:cxnLst/>
              <a:rect l="textAreaLeft" t="textAreaTop" r="textAreaRight" b="textAreaBottom"/>
              <a:pathLst>
                <a:path w="3609849" h="1763630">
                  <a:moveTo>
                    <a:pt x="5649" y="0"/>
                  </a:moveTo>
                  <a:lnTo>
                    <a:pt x="3604200" y="0"/>
                  </a:lnTo>
                  <a:cubicBezTo>
                    <a:pt x="3605698" y="0"/>
                    <a:pt x="3607135" y="595"/>
                    <a:pt x="3608194" y="1654"/>
                  </a:cubicBezTo>
                  <a:cubicBezTo>
                    <a:pt x="3609254" y="2714"/>
                    <a:pt x="3609849" y="4150"/>
                    <a:pt x="3609849" y="5649"/>
                  </a:cubicBezTo>
                  <a:lnTo>
                    <a:pt x="3609849" y="1757981"/>
                  </a:lnTo>
                  <a:cubicBezTo>
                    <a:pt x="3609849" y="1759479"/>
                    <a:pt x="3609254" y="1760916"/>
                    <a:pt x="3608194" y="1761975"/>
                  </a:cubicBezTo>
                  <a:cubicBezTo>
                    <a:pt x="3607135" y="1763034"/>
                    <a:pt x="3605698" y="1763630"/>
                    <a:pt x="3604200" y="1763630"/>
                  </a:cubicBezTo>
                  <a:lnTo>
                    <a:pt x="5649" y="1763630"/>
                  </a:lnTo>
                  <a:cubicBezTo>
                    <a:pt x="2529" y="1763630"/>
                    <a:pt x="0" y="1761101"/>
                    <a:pt x="0" y="1757981"/>
                  </a:cubicBezTo>
                  <a:lnTo>
                    <a:pt x="0" y="5649"/>
                  </a:lnTo>
                  <a:cubicBezTo>
                    <a:pt x="0" y="4150"/>
                    <a:pt x="595" y="2714"/>
                    <a:pt x="1654" y="1654"/>
                  </a:cubicBezTo>
                  <a:cubicBezTo>
                    <a:pt x="2714" y="595"/>
                    <a:pt x="4150" y="0"/>
                    <a:pt x="5649"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135" name="TextBox 4"/>
            <p:cNvSpPr/>
            <p:nvPr/>
          </p:nvSpPr>
          <p:spPr>
            <a:xfrm>
              <a:off x="-2543760" y="-542880"/>
              <a:ext cx="13705560" cy="6840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sp>
        <p:nvSpPr>
          <p:cNvPr id="136" name="Freeform 5"/>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nvGrpSpPr>
          <p:cNvPr id="137" name="Group 6"/>
          <p:cNvGrpSpPr/>
          <p:nvPr/>
        </p:nvGrpSpPr>
        <p:grpSpPr>
          <a:xfrm>
            <a:off x="5725800" y="1028880"/>
            <a:ext cx="4565880" cy="5268600"/>
            <a:chOff x="5725800" y="1028880"/>
            <a:chExt cx="4565880" cy="5268600"/>
          </a:xfrm>
        </p:grpSpPr>
        <p:sp>
          <p:nvSpPr>
            <p:cNvPr id="138" name="Freeform 7"/>
            <p:cNvSpPr/>
            <p:nvPr/>
          </p:nvSpPr>
          <p:spPr>
            <a:xfrm>
              <a:off x="5725800" y="1028880"/>
              <a:ext cx="4565880" cy="5268600"/>
            </a:xfrm>
            <a:custGeom>
              <a:avLst/>
              <a:gdLst>
                <a:gd name="textAreaLeft" fmla="*/ 0 w 4565880"/>
                <a:gd name="textAreaRight" fmla="*/ 4566600 w 4565880"/>
                <a:gd name="textAreaTop" fmla="*/ 0 h 5268600"/>
                <a:gd name="textAreaBottom" fmla="*/ 5269320 h 5268600"/>
              </a:gdLst>
              <a:ahLst/>
              <a:cxnLst/>
              <a:rect l="textAreaLeft" t="textAreaTop" r="textAreaRight" b="textAreaBottom"/>
              <a:pathLst>
                <a:path w="707458" h="816381">
                  <a:moveTo>
                    <a:pt x="0" y="0"/>
                  </a:moveTo>
                  <a:lnTo>
                    <a:pt x="707458" y="0"/>
                  </a:lnTo>
                  <a:lnTo>
                    <a:pt x="707458" y="816381"/>
                  </a:lnTo>
                  <a:lnTo>
                    <a:pt x="0" y="816381"/>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139" name="Freeform 8"/>
          <p:cNvSpPr/>
          <p:nvPr/>
        </p:nvSpPr>
        <p:spPr>
          <a:xfrm>
            <a:off x="1028880" y="538092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grpSp>
        <p:nvGrpSpPr>
          <p:cNvPr id="140" name="Group 9"/>
          <p:cNvGrpSpPr/>
          <p:nvPr/>
        </p:nvGrpSpPr>
        <p:grpSpPr>
          <a:xfrm>
            <a:off x="12738240" y="5275800"/>
            <a:ext cx="6601680" cy="6609960"/>
            <a:chOff x="12738240" y="5275800"/>
            <a:chExt cx="6601680" cy="6609960"/>
          </a:xfrm>
        </p:grpSpPr>
        <p:sp>
          <p:nvSpPr>
            <p:cNvPr id="141" name="Freeform 10"/>
            <p:cNvSpPr/>
            <p:nvPr/>
          </p:nvSpPr>
          <p:spPr>
            <a:xfrm>
              <a:off x="12738240" y="5420520"/>
              <a:ext cx="6601680" cy="6465240"/>
            </a:xfrm>
            <a:custGeom>
              <a:avLst/>
              <a:gdLst>
                <a:gd name="textAreaLeft" fmla="*/ 0 w 6601680"/>
                <a:gd name="textAreaRight" fmla="*/ 6602400 w 6601680"/>
                <a:gd name="textAreaTop" fmla="*/ 0 h 6465240"/>
                <a:gd name="textAreaBottom" fmla="*/ 6465960 h 6465240"/>
              </a:gdLst>
              <a:ahLst/>
              <a:cxnLst/>
              <a:rect l="textAreaLeft" t="textAreaTop" r="textAreaRight" b="textAreaBottom"/>
              <a:pathLst>
                <a:path w="1738885" h="1702990">
                  <a:moveTo>
                    <a:pt x="11726" y="0"/>
                  </a:moveTo>
                  <a:lnTo>
                    <a:pt x="1727159" y="0"/>
                  </a:lnTo>
                  <a:cubicBezTo>
                    <a:pt x="1733635" y="0"/>
                    <a:pt x="1738885" y="5250"/>
                    <a:pt x="1738885" y="11726"/>
                  </a:cubicBezTo>
                  <a:lnTo>
                    <a:pt x="1738885" y="1691264"/>
                  </a:lnTo>
                  <a:cubicBezTo>
                    <a:pt x="1738885" y="1697740"/>
                    <a:pt x="1733635" y="1702990"/>
                    <a:pt x="1727159" y="1702990"/>
                  </a:cubicBezTo>
                  <a:lnTo>
                    <a:pt x="11726" y="1702990"/>
                  </a:lnTo>
                  <a:cubicBezTo>
                    <a:pt x="5250" y="1702990"/>
                    <a:pt x="0" y="1697740"/>
                    <a:pt x="0" y="1691264"/>
                  </a:cubicBezTo>
                  <a:lnTo>
                    <a:pt x="0" y="11726"/>
                  </a:lnTo>
                  <a:cubicBezTo>
                    <a:pt x="0" y="5250"/>
                    <a:pt x="5250" y="0"/>
                    <a:pt x="11726"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142" name="TextBox 11"/>
            <p:cNvSpPr/>
            <p:nvPr/>
          </p:nvSpPr>
          <p:spPr>
            <a:xfrm>
              <a:off x="12738240" y="5275800"/>
              <a:ext cx="6601680" cy="66099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sp>
        <p:nvSpPr>
          <p:cNvPr id="143" name="Freeform 12"/>
          <p:cNvSpPr/>
          <p:nvPr/>
        </p:nvSpPr>
        <p:spPr>
          <a:xfrm>
            <a:off x="12738240" y="3838320"/>
            <a:ext cx="1484280" cy="641880"/>
          </a:xfrm>
          <a:custGeom>
            <a:avLst/>
            <a:gdLst>
              <a:gd name="textAreaLeft" fmla="*/ 0 w 1484280"/>
              <a:gd name="textAreaRight" fmla="*/ 1485000 w 1484280"/>
              <a:gd name="textAreaTop" fmla="*/ 0 h 641880"/>
              <a:gd name="textAreaBottom" fmla="*/ 642600 h 641880"/>
            </a:gdLst>
            <a:ahLst/>
            <a:cxnLst/>
            <a:rect l="textAreaLeft" t="textAreaTop" r="textAreaRight" b="textAreaBottom"/>
            <a:pathLst>
              <a:path w="1484953" h="642580">
                <a:moveTo>
                  <a:pt x="0" y="0"/>
                </a:moveTo>
                <a:lnTo>
                  <a:pt x="1484953" y="0"/>
                </a:lnTo>
                <a:lnTo>
                  <a:pt x="1484953" y="642579"/>
                </a:lnTo>
                <a:lnTo>
                  <a:pt x="0" y="642579"/>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44" name="Freeform 13"/>
          <p:cNvSpPr/>
          <p:nvPr/>
        </p:nvSpPr>
        <p:spPr>
          <a:xfrm>
            <a:off x="10846440" y="91792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145" name="AutoShape 14"/>
          <p:cNvSpPr/>
          <p:nvPr/>
        </p:nvSpPr>
        <p:spPr>
          <a:xfrm>
            <a:off x="13575240" y="9262800"/>
            <a:ext cx="368388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146" name="TextBox 15"/>
          <p:cNvSpPr/>
          <p:nvPr/>
        </p:nvSpPr>
        <p:spPr>
          <a:xfrm>
            <a:off x="1028880" y="8010000"/>
            <a:ext cx="8428320" cy="1544400"/>
          </a:xfrm>
          <a:prstGeom prst="rect">
            <a:avLst/>
          </a:prstGeom>
          <a:noFill/>
          <a:ln w="0">
            <a:noFill/>
          </a:ln>
        </p:spPr>
        <p:style>
          <a:lnRef idx="0"/>
          <a:fillRef idx="0"/>
          <a:effectRef idx="0"/>
          <a:fontRef idx="minor"/>
        </p:style>
        <p:txBody>
          <a:bodyPr lIns="0" rIns="0" tIns="0" bIns="0" anchor="t">
            <a:spAutoFit/>
          </a:bodyPr>
          <a:p>
            <a:pPr defTabSz="914400">
              <a:lnSpc>
                <a:spcPts val="11378"/>
              </a:lnSpc>
            </a:pPr>
            <a:r>
              <a:rPr lang="en-US" sz="12360" b="0" u="none" strike="noStrike">
                <a:solidFill>
                  <a:srgbClr val="a2dd39"/>
                </a:solidFill>
                <a:effectLst/>
                <a:uFillTx/>
                <a:latin typeface="Pattanakarn Light"/>
                <a:ea typeface="Pattanakarn Light"/>
              </a:rPr>
              <a:t>PHISHING</a:t>
            </a:r>
            <a:endParaRPr lang="en-ZA" sz="12360" b="0" u="none" strike="noStrike">
              <a:solidFill>
                <a:srgbClr val="ffffff"/>
              </a:solidFill>
              <a:effectLst/>
              <a:uFillTx/>
              <a:latin typeface="Arial"/>
            </a:endParaRPr>
          </a:p>
        </p:txBody>
      </p:sp>
      <p:sp>
        <p:nvSpPr>
          <p:cNvPr id="147" name="TextBox 16"/>
          <p:cNvSpPr/>
          <p:nvPr/>
        </p:nvSpPr>
        <p:spPr>
          <a:xfrm>
            <a:off x="1028880" y="7248240"/>
            <a:ext cx="7367040" cy="427320"/>
          </a:xfrm>
          <a:prstGeom prst="rect">
            <a:avLst/>
          </a:prstGeom>
          <a:noFill/>
          <a:ln w="0">
            <a:noFill/>
          </a:ln>
        </p:spPr>
        <p:style>
          <a:lnRef idx="0"/>
          <a:fillRef idx="0"/>
          <a:effectRef idx="0"/>
          <a:fontRef idx="minor"/>
        </p:style>
        <p:txBody>
          <a:bodyPr lIns="0" rIns="0" tIns="0" bIns="0" anchor="t">
            <a:spAutoFit/>
          </a:bodyPr>
          <a:p>
            <a:pPr defTabSz="914400">
              <a:lnSpc>
                <a:spcPts val="3192"/>
              </a:lnSpc>
            </a:pPr>
            <a:r>
              <a:rPr lang="en-US" sz="3470" b="0" u="none" strike="noStrike">
                <a:solidFill>
                  <a:srgbClr val="d7e7c6"/>
                </a:solidFill>
                <a:effectLst/>
                <a:uFillTx/>
                <a:latin typeface="Pattanakarn Light"/>
                <a:ea typeface="Pattanakarn Light"/>
              </a:rPr>
              <a:t>THE MOST COMMON THREAT</a:t>
            </a:r>
            <a:endParaRPr lang="en-ZA" sz="3470" b="0" u="none" strike="noStrike">
              <a:solidFill>
                <a:srgbClr val="ffffff"/>
              </a:solidFill>
              <a:effectLst/>
              <a:uFillTx/>
              <a:latin typeface="Arial"/>
            </a:endParaRPr>
          </a:p>
        </p:txBody>
      </p:sp>
      <p:sp>
        <p:nvSpPr>
          <p:cNvPr id="148" name="TextBox 17"/>
          <p:cNvSpPr/>
          <p:nvPr/>
        </p:nvSpPr>
        <p:spPr>
          <a:xfrm>
            <a:off x="1391400" y="1066680"/>
            <a:ext cx="1487520" cy="163440"/>
          </a:xfrm>
          <a:prstGeom prst="rect">
            <a:avLst/>
          </a:prstGeom>
          <a:noFill/>
          <a:ln w="0">
            <a:noFill/>
          </a:ln>
        </p:spPr>
        <p:style>
          <a:lnRef idx="0"/>
          <a:fillRef idx="0"/>
          <a:effectRef idx="0"/>
          <a:fontRef idx="minor"/>
        </p:style>
        <p:txBody>
          <a:bodyPr lIns="0" rIns="0" tIns="0" bIns="0" anchor="t">
            <a:spAutoFit/>
          </a:bodyPr>
          <a:p>
            <a:pPr defTabSz="914400">
              <a:lnSpc>
                <a:spcPts val="1287"/>
              </a:lnSpc>
            </a:pPr>
            <a:endParaRPr lang="en-ZA" sz="1800" b="0" u="none" strike="noStrike">
              <a:solidFill>
                <a:srgbClr val="ffffff"/>
              </a:solidFill>
              <a:effectLst/>
              <a:uFillTx/>
              <a:latin typeface="Arial"/>
            </a:endParaRPr>
          </a:p>
        </p:txBody>
      </p:sp>
      <p:sp>
        <p:nvSpPr>
          <p:cNvPr id="149" name="TextBox 18"/>
          <p:cNvSpPr/>
          <p:nvPr/>
        </p:nvSpPr>
        <p:spPr>
          <a:xfrm>
            <a:off x="15771240" y="1066680"/>
            <a:ext cx="1487520" cy="32652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150" name="TextBox 19"/>
          <p:cNvSpPr/>
          <p:nvPr/>
        </p:nvSpPr>
        <p:spPr>
          <a:xfrm>
            <a:off x="1028880" y="2384640"/>
            <a:ext cx="254052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What phishing looks like</a:t>
            </a:r>
            <a:endParaRPr lang="en-ZA" sz="1400" b="0" u="none" strike="noStrike">
              <a:solidFill>
                <a:srgbClr val="ffffff"/>
              </a:solidFill>
              <a:effectLst/>
              <a:uFillTx/>
              <a:latin typeface="Arial"/>
            </a:endParaRPr>
          </a:p>
        </p:txBody>
      </p:sp>
      <p:sp>
        <p:nvSpPr>
          <p:cNvPr id="151" name="TextBox 20"/>
          <p:cNvSpPr/>
          <p:nvPr/>
        </p:nvSpPr>
        <p:spPr>
          <a:xfrm>
            <a:off x="1028880" y="2815920"/>
            <a:ext cx="3683160" cy="241236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Phishing is a cyber-attack that disguises itself as a legitimate message—often an email, text, or website—to trick you into revealing sensitive information. These messages may appear to come from trusted organizations like banks, delivery services, or government agencies. They often use official-looking logos, urgent language such as “Your account will be locked”, and links that lead to fake websites designed to steal your data. </a:t>
            </a:r>
            <a:endParaRPr lang="en-ZA" sz="1400" b="0" u="none" strike="noStrike">
              <a:solidFill>
                <a:srgbClr val="ffffff"/>
              </a:solidFill>
              <a:effectLst/>
              <a:uFillTx/>
              <a:latin typeface="Arial"/>
            </a:endParaRPr>
          </a:p>
          <a:p>
            <a:pPr defTabSz="914400">
              <a:lnSpc>
                <a:spcPts val="1681"/>
              </a:lnSpc>
              <a:spcBef>
                <a:spcPts val="1191"/>
              </a:spcBef>
              <a:spcAft>
                <a:spcPts val="992"/>
              </a:spcAft>
            </a:pPr>
            <a:endParaRPr lang="en-ZA" sz="1400" b="0" u="none" strike="noStrike">
              <a:solidFill>
                <a:srgbClr val="ffffff"/>
              </a:solidFill>
              <a:effectLst/>
              <a:uFillTx/>
              <a:latin typeface="Arial"/>
            </a:endParaRPr>
          </a:p>
        </p:txBody>
      </p:sp>
      <p:sp>
        <p:nvSpPr>
          <p:cNvPr id="152" name="TextBox 21"/>
          <p:cNvSpPr/>
          <p:nvPr/>
        </p:nvSpPr>
        <p:spPr>
          <a:xfrm>
            <a:off x="12738240" y="2594880"/>
            <a:ext cx="3347280" cy="731160"/>
          </a:xfrm>
          <a:prstGeom prst="rect">
            <a:avLst/>
          </a:prstGeom>
          <a:noFill/>
          <a:ln w="0">
            <a:noFill/>
          </a:ln>
        </p:spPr>
        <p:style>
          <a:lnRef idx="0"/>
          <a:fillRef idx="0"/>
          <a:effectRef idx="0"/>
          <a:fontRef idx="minor"/>
        </p:style>
        <p:txBody>
          <a:bodyPr lIns="0" rIns="0" tIns="0" bIns="0" anchor="t">
            <a:spAutoFit/>
          </a:bodyPr>
          <a:p>
            <a:pPr defTabSz="914400">
              <a:lnSpc>
                <a:spcPts val="2880"/>
              </a:lnSpc>
            </a:pPr>
            <a:r>
              <a:rPr lang="en-US" sz="2400" b="0" u="none" strike="noStrike">
                <a:solidFill>
                  <a:srgbClr val="d7e7c6"/>
                </a:solidFill>
                <a:effectLst/>
                <a:uFillTx/>
                <a:latin typeface="Pattanakarn Light"/>
                <a:ea typeface="Pattanakarn Light"/>
              </a:rPr>
              <a:t>Email, SMS (smishing), voice (vishing)</a:t>
            </a:r>
            <a:endParaRPr lang="en-ZA" sz="2400" b="0" u="none" strike="noStrike">
              <a:solidFill>
                <a:srgbClr val="ffffff"/>
              </a:solidFill>
              <a:effectLst/>
              <a:uFillTx/>
              <a:latin typeface="Arial"/>
            </a:endParaRPr>
          </a:p>
        </p:txBody>
      </p:sp>
      <p:sp>
        <p:nvSpPr>
          <p:cNvPr id="153" name="TextBox 22"/>
          <p:cNvSpPr/>
          <p:nvPr/>
        </p:nvSpPr>
        <p:spPr>
          <a:xfrm>
            <a:off x="12738240" y="2236680"/>
            <a:ext cx="125028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Types</a:t>
            </a:r>
            <a:endParaRPr lang="en-ZA" sz="1400" b="0" u="none" strike="noStrike">
              <a:solidFill>
                <a:srgbClr val="ffffff"/>
              </a:solidFill>
              <a:effectLst/>
              <a:uFillTx/>
              <a:latin typeface="Arial"/>
            </a:endParaRPr>
          </a:p>
        </p:txBody>
      </p:sp>
      <p:sp>
        <p:nvSpPr>
          <p:cNvPr id="154" name="TextBox 23"/>
          <p:cNvSpPr/>
          <p:nvPr/>
        </p:nvSpPr>
        <p:spPr>
          <a:xfrm>
            <a:off x="13575240" y="6119280"/>
            <a:ext cx="3548160" cy="332640"/>
          </a:xfrm>
          <a:prstGeom prst="rect">
            <a:avLst/>
          </a:prstGeom>
          <a:noFill/>
          <a:ln w="0">
            <a:noFill/>
          </a:ln>
        </p:spPr>
        <p:style>
          <a:lnRef idx="0"/>
          <a:fillRef idx="0"/>
          <a:effectRef idx="0"/>
          <a:fontRef idx="minor"/>
        </p:style>
        <p:txBody>
          <a:bodyPr lIns="0" rIns="0" tIns="0" bIns="0" anchor="t">
            <a:spAutoFit/>
          </a:bodyPr>
          <a:p>
            <a:pPr defTabSz="914400">
              <a:lnSpc>
                <a:spcPts val="2602"/>
              </a:lnSpc>
            </a:pPr>
            <a:r>
              <a:rPr lang="en-US" sz="2170" b="1" u="none" strike="noStrike">
                <a:solidFill>
                  <a:srgbClr val="a2dd39"/>
                </a:solidFill>
                <a:effectLst/>
                <a:uFillTx/>
                <a:latin typeface="Pattanakarn Bold"/>
                <a:ea typeface="Pattanakarn Bold"/>
              </a:rPr>
              <a:t>How to spot red flags</a:t>
            </a:r>
            <a:endParaRPr lang="en-ZA" sz="2170" b="0" u="none" strike="noStrike">
              <a:solidFill>
                <a:srgbClr val="ffffff"/>
              </a:solidFill>
              <a:effectLst/>
              <a:uFillTx/>
              <a:latin typeface="Arial"/>
            </a:endParaRPr>
          </a:p>
        </p:txBody>
      </p:sp>
      <p:sp>
        <p:nvSpPr>
          <p:cNvPr id="155" name="TextBox 24"/>
          <p:cNvSpPr/>
          <p:nvPr/>
        </p:nvSpPr>
        <p:spPr>
          <a:xfrm>
            <a:off x="13575240" y="6605280"/>
            <a:ext cx="3683160" cy="232560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Key warning signs include:</a:t>
            </a:r>
            <a:endParaRPr lang="en-ZA" sz="1400" b="0" u="none" strike="noStrike">
              <a:solidFill>
                <a:srgbClr val="ffffff"/>
              </a:solidFill>
              <a:effectLst/>
              <a:uFillTx/>
              <a:latin typeface="Arial"/>
            </a:endParaRPr>
          </a:p>
          <a:p>
            <a:pPr marL="216000" indent="-216000" defTabSz="914400">
              <a:lnSpc>
                <a:spcPts val="1681"/>
              </a:lnSpc>
              <a:spcBef>
                <a:spcPts val="1191"/>
              </a:spcBef>
              <a:spcAft>
                <a:spcPts val="992"/>
              </a:spcAft>
              <a:buClr>
                <a:srgbClr val="d7e7c6"/>
              </a:buClr>
              <a:buFont typeface="Symbol" charset="2"/>
              <a:buChar char=""/>
            </a:pPr>
            <a:r>
              <a:rPr lang="en-ZA" sz="1400" b="0" u="none" strike="noStrike">
                <a:solidFill>
                  <a:srgbClr val="ffffff"/>
                </a:solidFill>
                <a:effectLst/>
                <a:uFillTx/>
                <a:latin typeface="Arial"/>
                <a:ea typeface="Pattanakarn Light"/>
              </a:rPr>
              <a:t>Unexpected requests for personal or financial information</a:t>
            </a:r>
            <a:endParaRPr lang="en-ZA" sz="1400" b="0" u="none" strike="noStrike">
              <a:solidFill>
                <a:srgbClr val="ffffff"/>
              </a:solidFill>
              <a:effectLst/>
              <a:uFillTx/>
              <a:latin typeface="Arial"/>
            </a:endParaRPr>
          </a:p>
          <a:p>
            <a:pPr marL="216000" indent="-216000" defTabSz="914400">
              <a:lnSpc>
                <a:spcPts val="1681"/>
              </a:lnSpc>
              <a:spcBef>
                <a:spcPts val="1191"/>
              </a:spcBef>
              <a:spcAft>
                <a:spcPts val="992"/>
              </a:spcAft>
              <a:buClr>
                <a:srgbClr val="d7e7c6"/>
              </a:buClr>
              <a:buFont typeface="Symbol" charset="2"/>
              <a:buChar char=""/>
            </a:pPr>
            <a:r>
              <a:rPr lang="en-ZA" sz="1400" b="0" u="none" strike="noStrike">
                <a:solidFill>
                  <a:srgbClr val="ffffff"/>
                </a:solidFill>
                <a:effectLst/>
                <a:uFillTx/>
                <a:latin typeface="Arial"/>
                <a:ea typeface="Pattanakarn Light"/>
              </a:rPr>
              <a:t>Suspicious or misspelled links and email addresses</a:t>
            </a:r>
            <a:endParaRPr lang="en-ZA" sz="1400" b="0" u="none" strike="noStrike">
              <a:solidFill>
                <a:srgbClr val="ffffff"/>
              </a:solidFill>
              <a:effectLst/>
              <a:uFillTx/>
              <a:latin typeface="Arial"/>
            </a:endParaRPr>
          </a:p>
          <a:p>
            <a:pPr marL="216000" indent="-216000" defTabSz="914400">
              <a:lnSpc>
                <a:spcPts val="1681"/>
              </a:lnSpc>
              <a:spcBef>
                <a:spcPts val="1191"/>
              </a:spcBef>
              <a:spcAft>
                <a:spcPts val="992"/>
              </a:spcAft>
              <a:buClr>
                <a:srgbClr val="d7e7c6"/>
              </a:buClr>
              <a:buFont typeface="Symbol" charset="2"/>
              <a:buChar char=""/>
            </a:pPr>
            <a:r>
              <a:rPr lang="en-ZA" sz="1400" b="0" u="none" strike="noStrike">
                <a:solidFill>
                  <a:srgbClr val="ffffff"/>
                </a:solidFill>
                <a:effectLst/>
                <a:uFillTx/>
                <a:latin typeface="Arial"/>
                <a:ea typeface="Pattanakarn Light"/>
              </a:rPr>
              <a:t>A sense of urgency or pressure to act quickly</a:t>
            </a:r>
            <a:endParaRPr lang="en-ZA"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37" dur="indefinite" restart="never" nodeType="tmRoot">
          <p:childTnLst>
            <p:seq>
              <p:cTn id="38" dur="indefinite" nodeType="mainSeq">
                <p:childTnLst>
                  <p:par>
                    <p:cTn id="39" fill="hold">
                      <p:stCondLst>
                        <p:cond delay="0"/>
                      </p:stCondLst>
                      <p:childTnLst>
                        <p:par>
                          <p:cTn id="40" fill="hold">
                            <p:stCondLst>
                              <p:cond delay="0"/>
                            </p:stCondLst>
                            <p:childTnLst>
                              <p:par>
                                <p:cTn id="41" presetID="40" presetClass="entr" fill="hold" nodeType="afterEffect">
                                  <p:stCondLst>
                                    <p:cond delay="0"/>
                                  </p:stCondLst>
                                  <p:childTnLst>
                                    <p:set>
                                      <p:cBhvr>
                                        <p:cTn id="42" dur="1" fill="hold">
                                          <p:stCondLst>
                                            <p:cond delay="0"/>
                                          </p:stCondLst>
                                        </p:cTn>
                                        <p:tgtEl>
                                          <p:spTgt spid="146"/>
                                        </p:tgtEl>
                                        <p:attrNameLst>
                                          <p:attrName>style.visibility</p:attrName>
                                        </p:attrNameLst>
                                      </p:cBhvr>
                                      <p:to>
                                        <p:strVal val="visible"/>
                                      </p:to>
                                    </p:set>
                                    <p:animEffect filter="fade" transition="in">
                                      <p:cBhvr additive="repl">
                                        <p:cTn id="43" dur="1000"/>
                                        <p:tgtEl>
                                          <p:spTgt spid="146"/>
                                        </p:tgtEl>
                                      </p:cBhvr>
                                    </p:animEffect>
                                    <p:anim calcmode="lin" valueType="num">
                                      <p:cBhvr additive="repl">
                                        <p:cTn id="44" dur="1000" fill="hold"/>
                                        <p:tgtEl>
                                          <p:spTgt spid="146"/>
                                        </p:tgtEl>
                                        <p:attrNameLst>
                                          <p:attrName>ppt_x</p:attrName>
                                        </p:attrNameLst>
                                      </p:cBhvr>
                                      <p:tavLst>
                                        <p:tav>
                                          <p:val>
                                            <p:strVal val="#ppt_x-.1"/>
                                          </p:val>
                                        </p:tav>
                                        <p:tav tm="100000">
                                          <p:val>
                                            <p:strVal val="#ppt_x"/>
                                          </p:val>
                                        </p:tav>
                                      </p:tavLst>
                                    </p:anim>
                                    <p:anim calcmode="lin" valueType="num">
                                      <p:cBhvr additive="repl">
                                        <p:cTn id="45" dur="1000" fill="hold"/>
                                        <p:tgtEl>
                                          <p:spTgt spid="146"/>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56"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57" name="TextBox 3"/>
          <p:cNvSpPr/>
          <p:nvPr/>
        </p:nvSpPr>
        <p:spPr>
          <a:xfrm>
            <a:off x="5203440" y="2480040"/>
            <a:ext cx="8002080" cy="2299320"/>
          </a:xfrm>
          <a:prstGeom prst="rect">
            <a:avLst/>
          </a:prstGeom>
          <a:noFill/>
          <a:ln w="0">
            <a:noFill/>
          </a:ln>
        </p:spPr>
        <p:style>
          <a:lnRef idx="0"/>
          <a:fillRef idx="0"/>
          <a:effectRef idx="0"/>
          <a:fontRef idx="minor"/>
        </p:style>
        <p:txBody>
          <a:bodyPr lIns="0" rIns="0" tIns="0" bIns="0" anchor="t">
            <a:spAutoFit/>
          </a:bodyPr>
          <a:p>
            <a:pPr defTabSz="914400">
              <a:lnSpc>
                <a:spcPts val="8739"/>
              </a:lnSpc>
            </a:pPr>
            <a:r>
              <a:rPr lang="en-US" sz="9500" b="0" u="none" strike="noStrike">
                <a:solidFill>
                  <a:srgbClr val="a2dd39"/>
                </a:solidFill>
                <a:effectLst/>
                <a:uFillTx/>
                <a:latin typeface="Pattanakarn Light"/>
                <a:ea typeface="Pattanakarn Light"/>
              </a:rPr>
              <a:t>BEST PRACTICES</a:t>
            </a:r>
            <a:endParaRPr lang="en-ZA" sz="9500" b="0" u="none" strike="noStrike">
              <a:solidFill>
                <a:srgbClr val="ffffff"/>
              </a:solidFill>
              <a:effectLst/>
              <a:uFillTx/>
              <a:latin typeface="Arial"/>
            </a:endParaRPr>
          </a:p>
        </p:txBody>
      </p:sp>
      <p:sp>
        <p:nvSpPr>
          <p:cNvPr id="158" name="TextBox 4"/>
          <p:cNvSpPr/>
          <p:nvPr/>
        </p:nvSpPr>
        <p:spPr>
          <a:xfrm>
            <a:off x="1028880" y="2469600"/>
            <a:ext cx="4760280" cy="932040"/>
          </a:xfrm>
          <a:prstGeom prst="rect">
            <a:avLst/>
          </a:prstGeom>
          <a:noFill/>
          <a:ln w="0">
            <a:noFill/>
          </a:ln>
        </p:spPr>
        <p:style>
          <a:lnRef idx="0"/>
          <a:fillRef idx="0"/>
          <a:effectRef idx="0"/>
          <a:fontRef idx="minor"/>
        </p:style>
        <p:txBody>
          <a:bodyPr lIns="0" rIns="0" tIns="0" bIns="0" anchor="t">
            <a:spAutoFit/>
          </a:bodyPr>
          <a:p>
            <a:pPr defTabSz="914400">
              <a:lnSpc>
                <a:spcPts val="3643"/>
              </a:lnSpc>
            </a:pPr>
            <a:r>
              <a:rPr lang="en-US" sz="3470" b="0" u="none" strike="noStrike">
                <a:solidFill>
                  <a:srgbClr val="d7e7c6"/>
                </a:solidFill>
                <a:effectLst/>
                <a:uFillTx/>
                <a:latin typeface="Pattanakarn Light"/>
                <a:ea typeface="Pattanakarn Light"/>
              </a:rPr>
              <a:t>PASSWORDS &amp; AUTHENTICATION</a:t>
            </a:r>
            <a:endParaRPr lang="en-ZA" sz="3470" b="0" u="none" strike="noStrike">
              <a:solidFill>
                <a:srgbClr val="ffffff"/>
              </a:solidFill>
              <a:effectLst/>
              <a:uFillTx/>
              <a:latin typeface="Arial"/>
            </a:endParaRPr>
          </a:p>
        </p:txBody>
      </p:sp>
      <p:sp>
        <p:nvSpPr>
          <p:cNvPr id="159" name="TextBox 5"/>
          <p:cNvSpPr/>
          <p:nvPr/>
        </p:nvSpPr>
        <p:spPr>
          <a:xfrm>
            <a:off x="1391400" y="1066680"/>
            <a:ext cx="1487520" cy="163440"/>
          </a:xfrm>
          <a:prstGeom prst="rect">
            <a:avLst/>
          </a:prstGeom>
          <a:noFill/>
          <a:ln w="0">
            <a:noFill/>
          </a:ln>
        </p:spPr>
        <p:style>
          <a:lnRef idx="0"/>
          <a:fillRef idx="0"/>
          <a:effectRef idx="0"/>
          <a:fontRef idx="minor"/>
        </p:style>
        <p:txBody>
          <a:bodyPr lIns="0" rIns="0" tIns="0" bIns="0" anchor="t">
            <a:spAutoFit/>
          </a:bodyPr>
          <a:p>
            <a:pPr defTabSz="914400">
              <a:lnSpc>
                <a:spcPts val="1287"/>
              </a:lnSpc>
            </a:pPr>
            <a:endParaRPr lang="en-ZA" sz="1800" b="0" u="none" strike="noStrike">
              <a:solidFill>
                <a:srgbClr val="ffffff"/>
              </a:solidFill>
              <a:effectLst/>
              <a:uFillTx/>
              <a:latin typeface="Arial"/>
            </a:endParaRPr>
          </a:p>
        </p:txBody>
      </p:sp>
      <p:sp>
        <p:nvSpPr>
          <p:cNvPr id="160" name="TextBox 6"/>
          <p:cNvSpPr/>
          <p:nvPr/>
        </p:nvSpPr>
        <p:spPr>
          <a:xfrm>
            <a:off x="15771240" y="1066680"/>
            <a:ext cx="1487520" cy="32652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grpSp>
        <p:nvGrpSpPr>
          <p:cNvPr id="161" name="Group 7"/>
          <p:cNvGrpSpPr/>
          <p:nvPr/>
        </p:nvGrpSpPr>
        <p:grpSpPr>
          <a:xfrm>
            <a:off x="-1306440" y="5308920"/>
            <a:ext cx="7641360" cy="8549640"/>
            <a:chOff x="-1306440" y="5308920"/>
            <a:chExt cx="7641360" cy="8549640"/>
          </a:xfrm>
        </p:grpSpPr>
        <p:sp>
          <p:nvSpPr>
            <p:cNvPr id="162" name="Freeform 8"/>
            <p:cNvSpPr/>
            <p:nvPr/>
          </p:nvSpPr>
          <p:spPr>
            <a:xfrm>
              <a:off x="-1306440" y="5453280"/>
              <a:ext cx="7641360" cy="8404920"/>
            </a:xfrm>
            <a:custGeom>
              <a:avLst/>
              <a:gdLst>
                <a:gd name="textAreaLeft" fmla="*/ 0 w 7641360"/>
                <a:gd name="textAreaRight" fmla="*/ 7642080 w 7641360"/>
                <a:gd name="textAreaTop" fmla="*/ 0 h 8404920"/>
                <a:gd name="textAreaBottom" fmla="*/ 8405640 h 8404920"/>
              </a:gdLst>
              <a:ahLst/>
              <a:cxnLst/>
              <a:rect l="textAreaLeft" t="textAreaTop" r="textAreaRight" b="textAreaBottom"/>
              <a:pathLst>
                <a:path w="2012767" h="2213812">
                  <a:moveTo>
                    <a:pt x="10130" y="0"/>
                  </a:moveTo>
                  <a:lnTo>
                    <a:pt x="2002636" y="0"/>
                  </a:lnTo>
                  <a:cubicBezTo>
                    <a:pt x="2005323" y="0"/>
                    <a:pt x="2007900" y="1067"/>
                    <a:pt x="2009800" y="2967"/>
                  </a:cubicBezTo>
                  <a:cubicBezTo>
                    <a:pt x="2011699" y="4867"/>
                    <a:pt x="2012767" y="7444"/>
                    <a:pt x="2012767" y="10130"/>
                  </a:cubicBezTo>
                  <a:lnTo>
                    <a:pt x="2012767" y="2203682"/>
                  </a:lnTo>
                  <a:cubicBezTo>
                    <a:pt x="2012767" y="2209276"/>
                    <a:pt x="2008231" y="2213812"/>
                    <a:pt x="2002636" y="2213812"/>
                  </a:cubicBezTo>
                  <a:lnTo>
                    <a:pt x="10130" y="2213812"/>
                  </a:lnTo>
                  <a:cubicBezTo>
                    <a:pt x="4536" y="2213812"/>
                    <a:pt x="0" y="2209276"/>
                    <a:pt x="0" y="2203682"/>
                  </a:cubicBezTo>
                  <a:lnTo>
                    <a:pt x="0" y="10130"/>
                  </a:lnTo>
                  <a:cubicBezTo>
                    <a:pt x="0" y="4536"/>
                    <a:pt x="4536" y="0"/>
                    <a:pt x="10130"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163" name="TextBox 9"/>
            <p:cNvSpPr/>
            <p:nvPr/>
          </p:nvSpPr>
          <p:spPr>
            <a:xfrm>
              <a:off x="-1306440" y="5308920"/>
              <a:ext cx="7641360" cy="85496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164" name="Group 10"/>
          <p:cNvGrpSpPr/>
          <p:nvPr/>
        </p:nvGrpSpPr>
        <p:grpSpPr>
          <a:xfrm>
            <a:off x="1028880" y="5468760"/>
            <a:ext cx="4517640" cy="4817520"/>
            <a:chOff x="1028880" y="5468760"/>
            <a:chExt cx="4517640" cy="4817520"/>
          </a:xfrm>
        </p:grpSpPr>
        <p:sp>
          <p:nvSpPr>
            <p:cNvPr id="165" name="Freeform 11"/>
            <p:cNvSpPr/>
            <p:nvPr/>
          </p:nvSpPr>
          <p:spPr>
            <a:xfrm>
              <a:off x="1028880" y="5468760"/>
              <a:ext cx="4517640" cy="4817520"/>
            </a:xfrm>
            <a:custGeom>
              <a:avLst/>
              <a:gdLst>
                <a:gd name="textAreaLeft" fmla="*/ 0 w 4517640"/>
                <a:gd name="textAreaRight" fmla="*/ 4518360 w 4517640"/>
                <a:gd name="textAreaTop" fmla="*/ 0 h 4817520"/>
                <a:gd name="textAreaBottom" fmla="*/ 4818240 h 4817520"/>
              </a:gdLst>
              <a:ahLst/>
              <a:cxnLst/>
              <a:rect l="textAreaLeft" t="textAreaTop" r="textAreaRight" b="textAreaBottom"/>
              <a:pathLst>
                <a:path w="700023" h="746499">
                  <a:moveTo>
                    <a:pt x="0" y="0"/>
                  </a:moveTo>
                  <a:lnTo>
                    <a:pt x="700023" y="0"/>
                  </a:lnTo>
                  <a:lnTo>
                    <a:pt x="700023" y="746499"/>
                  </a:lnTo>
                  <a:lnTo>
                    <a:pt x="0" y="746499"/>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166" name="Freeform 12"/>
          <p:cNvSpPr/>
          <p:nvPr/>
        </p:nvSpPr>
        <p:spPr>
          <a:xfrm>
            <a:off x="1028880" y="3975840"/>
            <a:ext cx="1654920" cy="164880"/>
          </a:xfrm>
          <a:custGeom>
            <a:avLst/>
            <a:gdLst>
              <a:gd name="textAreaLeft" fmla="*/ 0 w 1654920"/>
              <a:gd name="textAreaRight" fmla="*/ 1655640 w 1654920"/>
              <a:gd name="textAreaTop" fmla="*/ 0 h 164880"/>
              <a:gd name="textAreaBottom" fmla="*/ 165600 h 164880"/>
            </a:gdLst>
            <a:ahLst/>
            <a:cxnLst/>
            <a:rect l="textAreaLeft" t="textAreaTop" r="textAreaRight" b="textAreaBottom"/>
            <a:pathLst>
              <a:path w="1655678" h="165568">
                <a:moveTo>
                  <a:pt x="0" y="0"/>
                </a:moveTo>
                <a:lnTo>
                  <a:pt x="1655678" y="0"/>
                </a:lnTo>
                <a:lnTo>
                  <a:pt x="1655678" y="165568"/>
                </a:lnTo>
                <a:lnTo>
                  <a:pt x="0" y="165568"/>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67" name="TextBox 13"/>
          <p:cNvSpPr/>
          <p:nvPr/>
        </p:nvSpPr>
        <p:spPr>
          <a:xfrm>
            <a:off x="7531920" y="6253920"/>
            <a:ext cx="2806560" cy="475560"/>
          </a:xfrm>
          <a:prstGeom prst="rect">
            <a:avLst/>
          </a:prstGeom>
          <a:noFill/>
          <a:ln w="0">
            <a:noFill/>
          </a:ln>
        </p:spPr>
        <p:style>
          <a:lnRef idx="0"/>
          <a:fillRef idx="0"/>
          <a:effectRef idx="0"/>
          <a:fontRef idx="minor"/>
        </p:style>
        <p:txBody>
          <a:bodyPr lIns="0" rIns="0" tIns="0" bIns="0" anchor="t">
            <a:spAutoFit/>
          </a:bodyPr>
          <a:p>
            <a:pPr defTabSz="914400">
              <a:lnSpc>
                <a:spcPts val="1919"/>
              </a:lnSpc>
            </a:pPr>
            <a:r>
              <a:rPr lang="en-US" sz="1600" b="1" u="none" strike="noStrike">
                <a:solidFill>
                  <a:srgbClr val="a2dd39"/>
                </a:solidFill>
                <a:effectLst/>
                <a:uFillTx/>
                <a:latin typeface="Pattanakarn Bold"/>
                <a:ea typeface="Pattanakarn Bold"/>
              </a:rPr>
              <a:t>Dangers of weak or reused passwords</a:t>
            </a:r>
            <a:endParaRPr lang="en-ZA" sz="1600" b="0" u="none" strike="noStrike">
              <a:solidFill>
                <a:srgbClr val="ffffff"/>
              </a:solidFill>
              <a:effectLst/>
              <a:uFillTx/>
              <a:latin typeface="Arial"/>
            </a:endParaRPr>
          </a:p>
        </p:txBody>
      </p:sp>
      <p:sp>
        <p:nvSpPr>
          <p:cNvPr id="168" name="TextBox 14"/>
          <p:cNvSpPr/>
          <p:nvPr/>
        </p:nvSpPr>
        <p:spPr>
          <a:xfrm>
            <a:off x="7531920" y="6953400"/>
            <a:ext cx="2988000" cy="213480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Using weak or repeated passwords makes it easy for attackers to break into accounts. If one account is compromised, reused passwords allow criminals to access many others, leading to stolen data, identity theft, or financial loss. Strong, unique passwords are essential to protect both personal and organizational information.</a:t>
            </a:r>
            <a:endParaRPr lang="en-ZA" sz="1400" b="0" u="none" strike="noStrike">
              <a:solidFill>
                <a:srgbClr val="ffffff"/>
              </a:solidFill>
              <a:effectLst/>
              <a:uFillTx/>
              <a:latin typeface="Arial"/>
            </a:endParaRPr>
          </a:p>
        </p:txBody>
      </p:sp>
      <p:sp>
        <p:nvSpPr>
          <p:cNvPr id="169" name="TextBox 15"/>
          <p:cNvSpPr/>
          <p:nvPr/>
        </p:nvSpPr>
        <p:spPr>
          <a:xfrm>
            <a:off x="11202840" y="6253920"/>
            <a:ext cx="372240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Importance of password managers</a:t>
            </a:r>
            <a:endParaRPr lang="en-ZA" sz="1400" b="0" u="none" strike="noStrike">
              <a:solidFill>
                <a:srgbClr val="ffffff"/>
              </a:solidFill>
              <a:effectLst/>
              <a:uFillTx/>
              <a:latin typeface="Arial"/>
            </a:endParaRPr>
          </a:p>
        </p:txBody>
      </p:sp>
      <p:sp>
        <p:nvSpPr>
          <p:cNvPr id="170" name="TextBox 16"/>
          <p:cNvSpPr/>
          <p:nvPr/>
        </p:nvSpPr>
        <p:spPr>
          <a:xfrm>
            <a:off x="11202840" y="6463080"/>
            <a:ext cx="6055560" cy="853560"/>
          </a:xfrm>
          <a:prstGeom prst="rect">
            <a:avLst/>
          </a:prstGeom>
          <a:noFill/>
          <a:ln w="0">
            <a:noFill/>
          </a:ln>
        </p:spPr>
        <p:style>
          <a:lnRef idx="0"/>
          <a:fillRef idx="0"/>
          <a:effectRef idx="0"/>
          <a:fontRef idx="minor"/>
        </p:style>
        <p:txBody>
          <a:bodyPr lIns="0" rIns="0" tIns="0" bIns="0" anchor="t">
            <a:spAutoFit/>
          </a:bodyPr>
          <a:p>
            <a:pPr defTabSz="914400">
              <a:lnSpc>
                <a:spcPts val="1681"/>
              </a:lnSpc>
              <a:spcBef>
                <a:spcPts val="1191"/>
              </a:spcBef>
              <a:spcAft>
                <a:spcPts val="992"/>
              </a:spcAft>
            </a:pPr>
            <a:r>
              <a:rPr lang="en-US" sz="1400" b="0" u="none" strike="noStrike">
                <a:solidFill>
                  <a:srgbClr val="d7e7c6"/>
                </a:solidFill>
                <a:effectLst/>
                <a:uFillTx/>
                <a:latin typeface="Pattanakarn Light"/>
                <a:ea typeface="Pattanakarn Light"/>
              </a:rPr>
              <a:t>Password managers are powerful tools that help you create, store, and manage strong, unique passwords for every account. Instead of relying on memory or writing them down, a password manager securely encrypts your credentials and automatically fills them in when needed.</a:t>
            </a:r>
            <a:endParaRPr lang="en-ZA" sz="1400" b="0" u="none" strike="noStrike">
              <a:solidFill>
                <a:srgbClr val="ffffff"/>
              </a:solidFill>
              <a:effectLst/>
              <a:uFillTx/>
              <a:latin typeface="Arial"/>
            </a:endParaRPr>
          </a:p>
        </p:txBody>
      </p:sp>
      <p:sp>
        <p:nvSpPr>
          <p:cNvPr id="171" name="TextBox 17"/>
          <p:cNvSpPr/>
          <p:nvPr/>
        </p:nvSpPr>
        <p:spPr>
          <a:xfrm>
            <a:off x="11202840" y="7350840"/>
            <a:ext cx="444852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Enabling multi-factor authentication (MFA)</a:t>
            </a:r>
            <a:endParaRPr lang="en-ZA" sz="1400" b="0" u="none" strike="noStrike">
              <a:solidFill>
                <a:srgbClr val="ffffff"/>
              </a:solidFill>
              <a:effectLst/>
              <a:uFillTx/>
              <a:latin typeface="Arial"/>
            </a:endParaRPr>
          </a:p>
        </p:txBody>
      </p:sp>
      <p:sp>
        <p:nvSpPr>
          <p:cNvPr id="172" name="TextBox 18"/>
          <p:cNvSpPr/>
          <p:nvPr/>
        </p:nvSpPr>
        <p:spPr>
          <a:xfrm>
            <a:off x="11202840" y="7585560"/>
            <a:ext cx="5311800" cy="213444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Multi‑Factor Authentication (MFA) is a security measure that requires more than just a password to access an account, adding an extra layer of protection. It works by combining something you know (your password) with something you have (like a code sent to your phone or an authenticator app) or something you are (like a fingerprint). To implement MFA, go to the security settings of your account, enable options such as “Two‑Step Verification” or “Multi‑Factor Authentication,” and follow the prompts to link your phone, app, or device. This way, even if your password is stolen, attackers cannot access your account without the second factor.</a:t>
            </a:r>
            <a:endParaRPr lang="en-ZA" sz="1400" b="0" u="none" strike="noStrike">
              <a:solidFill>
                <a:srgbClr val="ffffff"/>
              </a:solidFill>
              <a:effectLst/>
              <a:uFillTx/>
              <a:latin typeface="Arial"/>
            </a:endParaRPr>
          </a:p>
        </p:txBody>
      </p:sp>
      <p:sp>
        <p:nvSpPr>
          <p:cNvPr id="173" name="Freeform 20"/>
          <p:cNvSpPr/>
          <p:nvPr/>
        </p:nvSpPr>
        <p:spPr>
          <a:xfrm>
            <a:off x="7531920" y="57718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174" name="Freeform 21"/>
          <p:cNvSpPr/>
          <p:nvPr/>
        </p:nvSpPr>
        <p:spPr>
          <a:xfrm flipH="1">
            <a:off x="15724440" y="3809520"/>
            <a:ext cx="1533240" cy="663120"/>
          </a:xfrm>
          <a:custGeom>
            <a:avLst/>
            <a:gdLst>
              <a:gd name="textAreaLeft" fmla="*/ 360 w 1533240"/>
              <a:gd name="textAreaRight" fmla="*/ 1534320 w 1533240"/>
              <a:gd name="textAreaTop" fmla="*/ 0 h 663120"/>
              <a:gd name="textAreaBottom" fmla="*/ 663840 h 663120"/>
            </a:gdLst>
            <a:ahLst/>
            <a:cxnLst/>
            <a:rect l="textAreaLeft" t="textAreaTop" r="textAreaRight" b="textAreaBottom"/>
            <a:pathLst>
              <a:path w="1534105" h="663849">
                <a:moveTo>
                  <a:pt x="1534105" y="0"/>
                </a:moveTo>
                <a:lnTo>
                  <a:pt x="0" y="0"/>
                </a:lnTo>
                <a:lnTo>
                  <a:pt x="0" y="663850"/>
                </a:lnTo>
                <a:lnTo>
                  <a:pt x="1534105" y="663850"/>
                </a:lnTo>
                <a:lnTo>
                  <a:pt x="1534105"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46" dur="indefinite" restart="never" nodeType="tmRoot">
          <p:childTnLst>
            <p:seq>
              <p:cTn id="47" dur="indefinite" nodeType="mainSeq">
                <p:childTnLst>
                  <p:par>
                    <p:cTn id="48" fill="hold">
                      <p:stCondLst>
                        <p:cond delay="0"/>
                      </p:stCondLst>
                      <p:childTnLst>
                        <p:par>
                          <p:cTn id="49" fill="hold">
                            <p:stCondLst>
                              <p:cond delay="0"/>
                            </p:stCondLst>
                            <p:childTnLst>
                              <p:par>
                                <p:cTn id="50" presetID="40" presetClass="entr" fill="hold" nodeType="afterEffect">
                                  <p:stCondLst>
                                    <p:cond delay="0"/>
                                  </p:stCondLst>
                                  <p:childTnLst>
                                    <p:set>
                                      <p:cBhvr>
                                        <p:cTn id="51" dur="1" fill="hold">
                                          <p:stCondLst>
                                            <p:cond delay="0"/>
                                          </p:stCondLst>
                                        </p:cTn>
                                        <p:tgtEl>
                                          <p:spTgt spid="157"/>
                                        </p:tgtEl>
                                        <p:attrNameLst>
                                          <p:attrName>style.visibility</p:attrName>
                                        </p:attrNameLst>
                                      </p:cBhvr>
                                      <p:to>
                                        <p:strVal val="visible"/>
                                      </p:to>
                                    </p:set>
                                    <p:animEffect filter="fade" transition="in">
                                      <p:cBhvr additive="repl">
                                        <p:cTn id="52" dur="1000"/>
                                        <p:tgtEl>
                                          <p:spTgt spid="157"/>
                                        </p:tgtEl>
                                      </p:cBhvr>
                                    </p:animEffect>
                                    <p:anim calcmode="lin" valueType="num">
                                      <p:cBhvr additive="repl">
                                        <p:cTn id="53" dur="1000" fill="hold"/>
                                        <p:tgtEl>
                                          <p:spTgt spid="157"/>
                                        </p:tgtEl>
                                        <p:attrNameLst>
                                          <p:attrName>ppt_x</p:attrName>
                                        </p:attrNameLst>
                                      </p:cBhvr>
                                      <p:tavLst>
                                        <p:tav>
                                          <p:val>
                                            <p:strVal val="#ppt_x-.1"/>
                                          </p:val>
                                        </p:tav>
                                        <p:tav tm="100000">
                                          <p:val>
                                            <p:strVal val="#ppt_x"/>
                                          </p:val>
                                        </p:tav>
                                      </p:tavLst>
                                    </p:anim>
                                    <p:anim calcmode="lin" valueType="num">
                                      <p:cBhvr additive="repl">
                                        <p:cTn id="54" dur="1000" fill="hold"/>
                                        <p:tgtEl>
                                          <p:spTgt spid="157"/>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5"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76" name="AutoShape 3"/>
          <p:cNvSpPr/>
          <p:nvPr/>
        </p:nvSpPr>
        <p:spPr>
          <a:xfrm>
            <a:off x="3292200" y="6511320"/>
            <a:ext cx="278136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177" name="AutoShape 4"/>
          <p:cNvSpPr/>
          <p:nvPr/>
        </p:nvSpPr>
        <p:spPr>
          <a:xfrm>
            <a:off x="7371360" y="6516000"/>
            <a:ext cx="2781000" cy="360"/>
          </a:xfrm>
          <a:prstGeom prst="line">
            <a:avLst/>
          </a:prstGeom>
          <a:ln w="9525">
            <a:solidFill>
              <a:srgbClr val="d7e7c6">
                <a:alpha val="35000"/>
              </a:srgbClr>
            </a:solidFill>
            <a:round/>
          </a:ln>
        </p:spPr>
        <p:style>
          <a:lnRef idx="0"/>
          <a:fillRef idx="0"/>
          <a:effectRef idx="0"/>
          <a:fontRef idx="minor"/>
        </p:style>
        <p:txBody>
          <a:bodyPr lIns="90000" rIns="90000" tIns="-44640" bIns="-44640" anchor="t" anchorCtr="1">
            <a:noAutofit/>
          </a:bodyPr>
          <a:p>
            <a:endParaRPr lang="en-ZA" sz="1800" b="0" u="none" strike="noStrike">
              <a:solidFill>
                <a:srgbClr val="ffffff"/>
              </a:solidFill>
              <a:effectLst/>
              <a:uFillTx/>
              <a:latin typeface="Arial"/>
            </a:endParaRPr>
          </a:p>
        </p:txBody>
      </p:sp>
      <p:sp>
        <p:nvSpPr>
          <p:cNvPr id="178" name="Freeform 5"/>
          <p:cNvSpPr/>
          <p:nvPr/>
        </p:nvSpPr>
        <p:spPr>
          <a:xfrm flipV="1">
            <a:off x="1028880" y="8884080"/>
            <a:ext cx="862200" cy="372600"/>
          </a:xfrm>
          <a:custGeom>
            <a:avLst/>
            <a:gdLst>
              <a:gd name="textAreaLeft" fmla="*/ 0 w 862200"/>
              <a:gd name="textAreaRight" fmla="*/ 862920 w 862200"/>
              <a:gd name="textAreaTop" fmla="*/ 360 h 372600"/>
              <a:gd name="textAreaBottom" fmla="*/ 373680 h 372600"/>
            </a:gdLst>
            <a:ahLst/>
            <a:cxnLst/>
            <a:rect l="textAreaLeft" t="textAreaTop" r="textAreaRight" b="textAreaBottom"/>
            <a:pathLst>
              <a:path w="862959" h="373426">
                <a:moveTo>
                  <a:pt x="0" y="373426"/>
                </a:moveTo>
                <a:lnTo>
                  <a:pt x="862959" y="373426"/>
                </a:lnTo>
                <a:lnTo>
                  <a:pt x="862959" y="0"/>
                </a:lnTo>
                <a:lnTo>
                  <a:pt x="0" y="0"/>
                </a:lnTo>
                <a:lnTo>
                  <a:pt x="0" y="373426"/>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nvGrpSpPr>
          <p:cNvPr id="179" name="Group 6"/>
          <p:cNvGrpSpPr/>
          <p:nvPr/>
        </p:nvGrpSpPr>
        <p:grpSpPr>
          <a:xfrm>
            <a:off x="11435760" y="4318560"/>
            <a:ext cx="9093600" cy="7616520"/>
            <a:chOff x="11435760" y="4318560"/>
            <a:chExt cx="9093600" cy="7616520"/>
          </a:xfrm>
        </p:grpSpPr>
        <p:sp>
          <p:nvSpPr>
            <p:cNvPr id="180" name="Freeform 7"/>
            <p:cNvSpPr/>
            <p:nvPr/>
          </p:nvSpPr>
          <p:spPr>
            <a:xfrm>
              <a:off x="11435760" y="4463280"/>
              <a:ext cx="9093600" cy="7471800"/>
            </a:xfrm>
            <a:custGeom>
              <a:avLst/>
              <a:gdLst>
                <a:gd name="textAreaLeft" fmla="*/ 0 w 9093600"/>
                <a:gd name="textAreaRight" fmla="*/ 9094320 w 9093600"/>
                <a:gd name="textAreaTop" fmla="*/ 0 h 7471800"/>
                <a:gd name="textAreaBottom" fmla="*/ 7472520 h 7471800"/>
              </a:gdLst>
              <a:ahLst/>
              <a:cxnLst/>
              <a:rect l="textAreaLeft" t="textAreaTop" r="textAreaRight" b="textAreaBottom"/>
              <a:pathLst>
                <a:path w="2395205" h="1968111">
                  <a:moveTo>
                    <a:pt x="8513" y="0"/>
                  </a:moveTo>
                  <a:lnTo>
                    <a:pt x="2386692" y="0"/>
                  </a:lnTo>
                  <a:cubicBezTo>
                    <a:pt x="2388950" y="0"/>
                    <a:pt x="2391115" y="897"/>
                    <a:pt x="2392712" y="2493"/>
                  </a:cubicBezTo>
                  <a:cubicBezTo>
                    <a:pt x="2394309" y="4090"/>
                    <a:pt x="2395205" y="6255"/>
                    <a:pt x="2395205" y="8513"/>
                  </a:cubicBezTo>
                  <a:lnTo>
                    <a:pt x="2395205" y="1959598"/>
                  </a:lnTo>
                  <a:cubicBezTo>
                    <a:pt x="2395205" y="1964300"/>
                    <a:pt x="2391394" y="1968111"/>
                    <a:pt x="2386692" y="1968111"/>
                  </a:cubicBezTo>
                  <a:lnTo>
                    <a:pt x="8513" y="1968111"/>
                  </a:lnTo>
                  <a:cubicBezTo>
                    <a:pt x="3811" y="1968111"/>
                    <a:pt x="0" y="1964300"/>
                    <a:pt x="0" y="1959598"/>
                  </a:cubicBezTo>
                  <a:lnTo>
                    <a:pt x="0" y="8513"/>
                  </a:lnTo>
                  <a:cubicBezTo>
                    <a:pt x="0" y="3811"/>
                    <a:pt x="3811" y="0"/>
                    <a:pt x="851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181" name="TextBox 8"/>
            <p:cNvSpPr/>
            <p:nvPr/>
          </p:nvSpPr>
          <p:spPr>
            <a:xfrm>
              <a:off x="11435760" y="4318560"/>
              <a:ext cx="9093600" cy="7616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182" name="Group 9"/>
          <p:cNvGrpSpPr/>
          <p:nvPr/>
        </p:nvGrpSpPr>
        <p:grpSpPr>
          <a:xfrm>
            <a:off x="12522600" y="4478400"/>
            <a:ext cx="5764680" cy="4779360"/>
            <a:chOff x="12522600" y="4478400"/>
            <a:chExt cx="5764680" cy="4779360"/>
          </a:xfrm>
        </p:grpSpPr>
        <p:sp>
          <p:nvSpPr>
            <p:cNvPr id="183" name="Freeform 10"/>
            <p:cNvSpPr/>
            <p:nvPr/>
          </p:nvSpPr>
          <p:spPr>
            <a:xfrm>
              <a:off x="12522600" y="4478400"/>
              <a:ext cx="5764680" cy="4779360"/>
            </a:xfrm>
            <a:custGeom>
              <a:avLst/>
              <a:gdLst>
                <a:gd name="textAreaLeft" fmla="*/ 0 w 5764680"/>
                <a:gd name="textAreaRight" fmla="*/ 5765400 w 5764680"/>
                <a:gd name="textAreaTop" fmla="*/ 0 h 4779360"/>
                <a:gd name="textAreaBottom" fmla="*/ 4780080 h 4779360"/>
              </a:gdLst>
              <a:ahLst/>
              <a:cxnLst/>
              <a:rect l="textAreaLeft" t="textAreaTop" r="textAreaRight" b="textAreaBottom"/>
              <a:pathLst>
                <a:path w="893187" h="740539">
                  <a:moveTo>
                    <a:pt x="0" y="0"/>
                  </a:moveTo>
                  <a:lnTo>
                    <a:pt x="893187" y="0"/>
                  </a:lnTo>
                  <a:lnTo>
                    <a:pt x="893187" y="740539"/>
                  </a:lnTo>
                  <a:lnTo>
                    <a:pt x="0" y="740539"/>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184" name="Freeform 11"/>
          <p:cNvSpPr/>
          <p:nvPr/>
        </p:nvSpPr>
        <p:spPr>
          <a:xfrm>
            <a:off x="13738320" y="2699280"/>
            <a:ext cx="3520080" cy="364320"/>
          </a:xfrm>
          <a:custGeom>
            <a:avLst/>
            <a:gdLst>
              <a:gd name="textAreaLeft" fmla="*/ 0 w 3520080"/>
              <a:gd name="textAreaRight" fmla="*/ 3520800 w 3520080"/>
              <a:gd name="textAreaTop" fmla="*/ 0 h 364320"/>
              <a:gd name="textAreaBottom" fmla="*/ 365040 h 364320"/>
            </a:gdLst>
            <a:ahLst/>
            <a:cxnLst/>
            <a:rect l="textAreaLeft" t="textAreaTop" r="textAreaRight" b="textAreaBottom"/>
            <a:pathLst>
              <a:path w="3520816" h="364885">
                <a:moveTo>
                  <a:pt x="0" y="0"/>
                </a:moveTo>
                <a:lnTo>
                  <a:pt x="3520816" y="0"/>
                </a:lnTo>
                <a:lnTo>
                  <a:pt x="3520816" y="364885"/>
                </a:lnTo>
                <a:lnTo>
                  <a:pt x="0" y="364885"/>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85" name="Freeform 12"/>
          <p:cNvSpPr/>
          <p:nvPr/>
        </p:nvSpPr>
        <p:spPr>
          <a:xfrm rot="16200000">
            <a:off x="11822400" y="510480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4"/>
                </a:lnTo>
                <a:lnTo>
                  <a:pt x="0" y="79054"/>
                </a:lnTo>
                <a:lnTo>
                  <a:pt x="0"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186" name="TextBox 13"/>
          <p:cNvSpPr/>
          <p:nvPr/>
        </p:nvSpPr>
        <p:spPr>
          <a:xfrm>
            <a:off x="1028880" y="2487240"/>
            <a:ext cx="9123120" cy="1194120"/>
          </a:xfrm>
          <a:prstGeom prst="rect">
            <a:avLst/>
          </a:prstGeom>
          <a:noFill/>
          <a:ln w="0">
            <a:noFill/>
          </a:ln>
        </p:spPr>
        <p:style>
          <a:lnRef idx="0"/>
          <a:fillRef idx="0"/>
          <a:effectRef idx="0"/>
          <a:fontRef idx="minor"/>
        </p:style>
        <p:txBody>
          <a:bodyPr lIns="0" rIns="0" tIns="0" bIns="0" anchor="t">
            <a:spAutoFit/>
          </a:bodyPr>
          <a:p>
            <a:pPr defTabSz="914400">
              <a:lnSpc>
                <a:spcPts val="8739"/>
              </a:lnSpc>
            </a:pPr>
            <a:r>
              <a:rPr lang="en-US" sz="9500" b="0" u="none" strike="noStrike">
                <a:solidFill>
                  <a:srgbClr val="a2dd39"/>
                </a:solidFill>
                <a:effectLst/>
                <a:uFillTx/>
                <a:latin typeface="Pattanakarn Light"/>
                <a:ea typeface="Pattanakarn Light"/>
              </a:rPr>
              <a:t>SAFE ONLINE</a:t>
            </a:r>
            <a:endParaRPr lang="en-ZA" sz="9500" b="0" u="none" strike="noStrike">
              <a:solidFill>
                <a:srgbClr val="ffffff"/>
              </a:solidFill>
              <a:effectLst/>
              <a:uFillTx/>
              <a:latin typeface="Arial"/>
            </a:endParaRPr>
          </a:p>
        </p:txBody>
      </p:sp>
      <p:sp>
        <p:nvSpPr>
          <p:cNvPr id="187" name="TextBox 14"/>
          <p:cNvSpPr/>
          <p:nvPr/>
        </p:nvSpPr>
        <p:spPr>
          <a:xfrm>
            <a:off x="9739800" y="2794320"/>
            <a:ext cx="3091680" cy="427320"/>
          </a:xfrm>
          <a:prstGeom prst="rect">
            <a:avLst/>
          </a:prstGeom>
          <a:noFill/>
          <a:ln w="0">
            <a:noFill/>
          </a:ln>
        </p:spPr>
        <p:style>
          <a:lnRef idx="0"/>
          <a:fillRef idx="0"/>
          <a:effectRef idx="0"/>
          <a:fontRef idx="minor"/>
        </p:style>
        <p:txBody>
          <a:bodyPr lIns="0" rIns="0" tIns="0" bIns="0" anchor="t">
            <a:spAutoFit/>
          </a:bodyPr>
          <a:p>
            <a:pPr defTabSz="914400">
              <a:lnSpc>
                <a:spcPts val="3192"/>
              </a:lnSpc>
            </a:pPr>
            <a:r>
              <a:rPr lang="en-US" sz="3470" b="0" u="none" strike="noStrike">
                <a:solidFill>
                  <a:srgbClr val="d7e7c6"/>
                </a:solidFill>
                <a:effectLst/>
                <a:uFillTx/>
                <a:latin typeface="Pattanakarn Light"/>
                <a:ea typeface="Pattanakarn Light"/>
              </a:rPr>
              <a:t>BEHAVIOR</a:t>
            </a:r>
            <a:endParaRPr lang="en-ZA" sz="3470" b="0" u="none" strike="noStrike">
              <a:solidFill>
                <a:srgbClr val="ffffff"/>
              </a:solidFill>
              <a:effectLst/>
              <a:uFillTx/>
              <a:latin typeface="Arial"/>
            </a:endParaRPr>
          </a:p>
        </p:txBody>
      </p:sp>
      <p:sp>
        <p:nvSpPr>
          <p:cNvPr id="188" name="TextBox 15"/>
          <p:cNvSpPr/>
          <p:nvPr/>
        </p:nvSpPr>
        <p:spPr>
          <a:xfrm>
            <a:off x="1391400" y="1066680"/>
            <a:ext cx="1487520" cy="163440"/>
          </a:xfrm>
          <a:prstGeom prst="rect">
            <a:avLst/>
          </a:prstGeom>
          <a:noFill/>
          <a:ln w="0">
            <a:noFill/>
          </a:ln>
        </p:spPr>
        <p:style>
          <a:lnRef idx="0"/>
          <a:fillRef idx="0"/>
          <a:effectRef idx="0"/>
          <a:fontRef idx="minor"/>
        </p:style>
        <p:txBody>
          <a:bodyPr lIns="0" rIns="0" tIns="0" bIns="0" anchor="t">
            <a:spAutoFit/>
          </a:bodyPr>
          <a:p>
            <a:pPr defTabSz="914400">
              <a:lnSpc>
                <a:spcPts val="1287"/>
              </a:lnSpc>
            </a:pPr>
            <a:endParaRPr lang="en-ZA" sz="1800" b="0" u="none" strike="noStrike">
              <a:solidFill>
                <a:srgbClr val="ffffff"/>
              </a:solidFill>
              <a:effectLst/>
              <a:uFillTx/>
              <a:latin typeface="Arial"/>
            </a:endParaRPr>
          </a:p>
        </p:txBody>
      </p:sp>
      <p:sp>
        <p:nvSpPr>
          <p:cNvPr id="189" name="TextBox 16"/>
          <p:cNvSpPr/>
          <p:nvPr/>
        </p:nvSpPr>
        <p:spPr>
          <a:xfrm>
            <a:off x="15771240" y="1066680"/>
            <a:ext cx="1487520" cy="32652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190" name="TextBox 17"/>
          <p:cNvSpPr/>
          <p:nvPr/>
        </p:nvSpPr>
        <p:spPr>
          <a:xfrm>
            <a:off x="3292200" y="4463280"/>
            <a:ext cx="254484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Think before you click</a:t>
            </a:r>
            <a:endParaRPr lang="en-ZA" sz="1400" b="0" u="none" strike="noStrike">
              <a:solidFill>
                <a:srgbClr val="ffffff"/>
              </a:solidFill>
              <a:effectLst/>
              <a:uFillTx/>
              <a:latin typeface="Arial"/>
            </a:endParaRPr>
          </a:p>
        </p:txBody>
      </p:sp>
      <p:sp>
        <p:nvSpPr>
          <p:cNvPr id="191" name="TextBox 18"/>
          <p:cNvSpPr/>
          <p:nvPr/>
        </p:nvSpPr>
        <p:spPr>
          <a:xfrm>
            <a:off x="3292200" y="4816080"/>
            <a:ext cx="2780640" cy="17071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Phishing often relies on impulsive clicks. Always pause before opening links or attachments in emails, texts, or pop‑ups. If something feels urgent or suspicious, verify it first—clicking without thinking can expose your device and data to attackers.</a:t>
            </a:r>
            <a:endParaRPr lang="en-ZA" sz="1400" b="0" u="none" strike="noStrike">
              <a:solidFill>
                <a:srgbClr val="ffffff"/>
              </a:solidFill>
              <a:effectLst/>
              <a:uFillTx/>
              <a:latin typeface="Arial"/>
            </a:endParaRPr>
          </a:p>
        </p:txBody>
      </p:sp>
      <p:sp>
        <p:nvSpPr>
          <p:cNvPr id="192" name="TextBox 19"/>
          <p:cNvSpPr/>
          <p:nvPr/>
        </p:nvSpPr>
        <p:spPr>
          <a:xfrm>
            <a:off x="7371360" y="4463280"/>
            <a:ext cx="254484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Verify sources and links</a:t>
            </a:r>
            <a:endParaRPr lang="en-ZA" sz="1400" b="0" u="none" strike="noStrike">
              <a:solidFill>
                <a:srgbClr val="ffffff"/>
              </a:solidFill>
              <a:effectLst/>
              <a:uFillTx/>
              <a:latin typeface="Arial"/>
            </a:endParaRPr>
          </a:p>
        </p:txBody>
      </p:sp>
      <p:sp>
        <p:nvSpPr>
          <p:cNvPr id="193" name="TextBox 20"/>
          <p:cNvSpPr/>
          <p:nvPr/>
        </p:nvSpPr>
        <p:spPr>
          <a:xfrm>
            <a:off x="7371360" y="4816080"/>
            <a:ext cx="2780640" cy="2134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Phishing messages often mimic trusted organizations. Double‑check the sender’s email address, look for spelling errors, and hover over links to see the actual destination before clicking. If in doubt, go directly to the official website rather than relying on embedded links.</a:t>
            </a:r>
            <a:endParaRPr lang="en-ZA" sz="1400" b="0" u="none" strike="noStrike">
              <a:solidFill>
                <a:srgbClr val="ffffff"/>
              </a:solidFill>
              <a:effectLst/>
              <a:uFillTx/>
              <a:latin typeface="Arial"/>
            </a:endParaRPr>
          </a:p>
          <a:p>
            <a:pPr defTabSz="914400">
              <a:lnSpc>
                <a:spcPts val="1681"/>
              </a:lnSpc>
            </a:pPr>
            <a:endParaRPr lang="en-ZA" sz="1400" b="0" u="none" strike="noStrike">
              <a:solidFill>
                <a:srgbClr val="ffffff"/>
              </a:solidFill>
              <a:effectLst/>
              <a:uFillTx/>
              <a:latin typeface="Arial"/>
            </a:endParaRPr>
          </a:p>
        </p:txBody>
      </p:sp>
      <p:sp>
        <p:nvSpPr>
          <p:cNvPr id="194" name="TextBox 21"/>
          <p:cNvSpPr/>
          <p:nvPr/>
        </p:nvSpPr>
        <p:spPr>
          <a:xfrm>
            <a:off x="3292200" y="6949800"/>
            <a:ext cx="278064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Use secure Wi-Fi networks</a:t>
            </a:r>
            <a:endParaRPr lang="en-ZA" sz="1400" b="0" u="none" strike="noStrike">
              <a:solidFill>
                <a:srgbClr val="ffffff"/>
              </a:solidFill>
              <a:effectLst/>
              <a:uFillTx/>
              <a:latin typeface="Arial"/>
            </a:endParaRPr>
          </a:p>
        </p:txBody>
      </p:sp>
      <p:sp>
        <p:nvSpPr>
          <p:cNvPr id="195" name="TextBox 22"/>
          <p:cNvSpPr/>
          <p:nvPr/>
        </p:nvSpPr>
        <p:spPr>
          <a:xfrm>
            <a:off x="3292200" y="7302600"/>
            <a:ext cx="2780640" cy="17082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Public Wi‑Fi may be convenient, but it’s often unsecured and vulnerable to hackers. Avoid logging into sensitive accounts or entering personal information on open networks. Instead, use trusted, password‑protected Wi‑Fi or a VPN to keep your connection safe.</a:t>
            </a:r>
            <a:endParaRPr lang="en-ZA" sz="1400" b="0" u="none" strike="noStrike">
              <a:solidFill>
                <a:srgbClr val="ffffff"/>
              </a:solidFill>
              <a:effectLst/>
              <a:uFillTx/>
              <a:latin typeface="Arial"/>
            </a:endParaRPr>
          </a:p>
        </p:txBody>
      </p:sp>
      <p:sp>
        <p:nvSpPr>
          <p:cNvPr id="196" name="TextBox 23"/>
          <p:cNvSpPr/>
          <p:nvPr/>
        </p:nvSpPr>
        <p:spPr>
          <a:xfrm>
            <a:off x="7371360" y="6949800"/>
            <a:ext cx="278064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Be cautious with downloads and attachments</a:t>
            </a:r>
            <a:endParaRPr lang="en-ZA" sz="1400" b="0" u="none" strike="noStrike">
              <a:solidFill>
                <a:srgbClr val="ffffff"/>
              </a:solidFill>
              <a:effectLst/>
              <a:uFillTx/>
              <a:latin typeface="Arial"/>
            </a:endParaRPr>
          </a:p>
        </p:txBody>
      </p:sp>
      <p:sp>
        <p:nvSpPr>
          <p:cNvPr id="197" name="TextBox 24"/>
          <p:cNvSpPr/>
          <p:nvPr/>
        </p:nvSpPr>
        <p:spPr>
          <a:xfrm>
            <a:off x="7371360" y="7511760"/>
            <a:ext cx="2780640" cy="234756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0" u="none" strike="noStrike">
                <a:solidFill>
                  <a:srgbClr val="d7e7c6"/>
                </a:solidFill>
                <a:effectLst/>
                <a:uFillTx/>
                <a:latin typeface="Pattanakarn Light"/>
                <a:ea typeface="Pattanakarn Light"/>
              </a:rPr>
              <a:t>Be Cautious with Downloads and Attachments. Attachments and downloads are common ways attackers deliver malware. Only open files from trusted sources, and be wary of unexpected attachments—even if they appear to come from colleagues or familiar companies. When unsure, confirm with the sender before opening.</a:t>
            </a:r>
            <a:endParaRPr lang="en-ZA"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55" dur="indefinite" restart="never" nodeType="tmRoot">
          <p:childTnLst>
            <p:seq>
              <p:cTn id="56" dur="indefinite" nodeType="mainSeq">
                <p:childTnLst>
                  <p:par>
                    <p:cTn id="57" fill="hold">
                      <p:stCondLst>
                        <p:cond delay="0"/>
                      </p:stCondLst>
                      <p:childTnLst>
                        <p:par>
                          <p:cTn id="58" fill="hold">
                            <p:stCondLst>
                              <p:cond delay="0"/>
                            </p:stCondLst>
                            <p:childTnLst>
                              <p:par>
                                <p:cTn id="59" presetID="40" presetClass="entr" fill="hold" nodeType="afterEffect">
                                  <p:stCondLst>
                                    <p:cond delay="0"/>
                                  </p:stCondLst>
                                  <p:childTnLst>
                                    <p:set>
                                      <p:cBhvr>
                                        <p:cTn id="60" dur="1" fill="hold">
                                          <p:stCondLst>
                                            <p:cond delay="0"/>
                                          </p:stCondLst>
                                        </p:cTn>
                                        <p:tgtEl>
                                          <p:spTgt spid="186"/>
                                        </p:tgtEl>
                                        <p:attrNameLst>
                                          <p:attrName>style.visibility</p:attrName>
                                        </p:attrNameLst>
                                      </p:cBhvr>
                                      <p:to>
                                        <p:strVal val="visible"/>
                                      </p:to>
                                    </p:set>
                                    <p:animEffect filter="fade" transition="in">
                                      <p:cBhvr additive="repl">
                                        <p:cTn id="61" dur="1000"/>
                                        <p:tgtEl>
                                          <p:spTgt spid="186"/>
                                        </p:tgtEl>
                                      </p:cBhvr>
                                    </p:animEffect>
                                    <p:anim calcmode="lin" valueType="num">
                                      <p:cBhvr additive="repl">
                                        <p:cTn id="62" dur="1000" fill="hold"/>
                                        <p:tgtEl>
                                          <p:spTgt spid="186"/>
                                        </p:tgtEl>
                                        <p:attrNameLst>
                                          <p:attrName>ppt_x</p:attrName>
                                        </p:attrNameLst>
                                      </p:cBhvr>
                                      <p:tavLst>
                                        <p:tav>
                                          <p:val>
                                            <p:strVal val="#ppt_x-.1"/>
                                          </p:val>
                                        </p:tav>
                                        <p:tav tm="100000">
                                          <p:val>
                                            <p:strVal val="#ppt_x"/>
                                          </p:val>
                                        </p:tav>
                                      </p:tavLst>
                                    </p:anim>
                                    <p:anim calcmode="lin" valueType="num">
                                      <p:cBhvr additive="repl">
                                        <p:cTn id="63" dur="1000" fill="hold"/>
                                        <p:tgtEl>
                                          <p:spTgt spid="186"/>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98"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199" name="TextBox 3"/>
          <p:cNvSpPr/>
          <p:nvPr/>
        </p:nvSpPr>
        <p:spPr>
          <a:xfrm>
            <a:off x="2670120" y="2427840"/>
            <a:ext cx="12947040" cy="2297160"/>
          </a:xfrm>
          <a:prstGeom prst="rect">
            <a:avLst/>
          </a:prstGeom>
          <a:noFill/>
          <a:ln w="0">
            <a:noFill/>
          </a:ln>
        </p:spPr>
        <p:style>
          <a:lnRef idx="0"/>
          <a:fillRef idx="0"/>
          <a:effectRef idx="0"/>
          <a:fontRef idx="minor"/>
        </p:style>
        <p:txBody>
          <a:bodyPr lIns="0" rIns="0" tIns="0" bIns="0" anchor="t">
            <a:spAutoFit/>
          </a:bodyPr>
          <a:p>
            <a:pPr algn="ctr" defTabSz="914400">
              <a:lnSpc>
                <a:spcPts val="8739"/>
              </a:lnSpc>
            </a:pPr>
            <a:r>
              <a:rPr lang="en-US" sz="9500" b="0" u="none" strike="noStrike">
                <a:solidFill>
                  <a:srgbClr val="a2dd39"/>
                </a:solidFill>
                <a:effectLst/>
                <a:uFillTx/>
                <a:latin typeface="Pattanakarn Light"/>
                <a:ea typeface="Pattanakarn Light"/>
              </a:rPr>
              <a:t>REPORTING AND RESPONSE</a:t>
            </a:r>
            <a:endParaRPr lang="en-ZA" sz="9500" b="0" u="none" strike="noStrike">
              <a:solidFill>
                <a:srgbClr val="ffffff"/>
              </a:solidFill>
              <a:effectLst/>
              <a:uFillTx/>
              <a:latin typeface="Arial"/>
            </a:endParaRPr>
          </a:p>
        </p:txBody>
      </p:sp>
      <p:sp>
        <p:nvSpPr>
          <p:cNvPr id="200" name="TextBox 4"/>
          <p:cNvSpPr/>
          <p:nvPr/>
        </p:nvSpPr>
        <p:spPr>
          <a:xfrm>
            <a:off x="1391400" y="1066680"/>
            <a:ext cx="1487520" cy="163440"/>
          </a:xfrm>
          <a:prstGeom prst="rect">
            <a:avLst/>
          </a:prstGeom>
          <a:noFill/>
          <a:ln w="0">
            <a:noFill/>
          </a:ln>
        </p:spPr>
        <p:style>
          <a:lnRef idx="0"/>
          <a:fillRef idx="0"/>
          <a:effectRef idx="0"/>
          <a:fontRef idx="minor"/>
        </p:style>
        <p:txBody>
          <a:bodyPr lIns="0" rIns="0" tIns="0" bIns="0" anchor="t">
            <a:spAutoFit/>
          </a:bodyPr>
          <a:p>
            <a:pPr defTabSz="914400">
              <a:lnSpc>
                <a:spcPts val="1287"/>
              </a:lnSpc>
            </a:pPr>
            <a:endParaRPr lang="en-ZA" sz="1800" b="0" u="none" strike="noStrike">
              <a:solidFill>
                <a:srgbClr val="ffffff"/>
              </a:solidFill>
              <a:effectLst/>
              <a:uFillTx/>
              <a:latin typeface="Arial"/>
            </a:endParaRPr>
          </a:p>
        </p:txBody>
      </p:sp>
      <p:sp>
        <p:nvSpPr>
          <p:cNvPr id="201" name="TextBox 5"/>
          <p:cNvSpPr/>
          <p:nvPr/>
        </p:nvSpPr>
        <p:spPr>
          <a:xfrm>
            <a:off x="15771240" y="1066680"/>
            <a:ext cx="1487520" cy="32652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grpSp>
        <p:nvGrpSpPr>
          <p:cNvPr id="202" name="Group 6"/>
          <p:cNvGrpSpPr/>
          <p:nvPr/>
        </p:nvGrpSpPr>
        <p:grpSpPr>
          <a:xfrm>
            <a:off x="11744640" y="5837760"/>
            <a:ext cx="4190400" cy="6919920"/>
            <a:chOff x="11744640" y="5837760"/>
            <a:chExt cx="4190400" cy="6919920"/>
          </a:xfrm>
        </p:grpSpPr>
        <p:sp>
          <p:nvSpPr>
            <p:cNvPr id="203" name="Freeform 7"/>
            <p:cNvSpPr/>
            <p:nvPr/>
          </p:nvSpPr>
          <p:spPr>
            <a:xfrm>
              <a:off x="11744640" y="5982480"/>
              <a:ext cx="4190400" cy="6775200"/>
            </a:xfrm>
            <a:custGeom>
              <a:avLst/>
              <a:gdLst>
                <a:gd name="textAreaLeft" fmla="*/ 0 w 4190400"/>
                <a:gd name="textAreaRight" fmla="*/ 4191120 w 4190400"/>
                <a:gd name="textAreaTop" fmla="*/ 0 h 6775200"/>
                <a:gd name="textAreaBottom" fmla="*/ 6775920 h 6775200"/>
              </a:gdLst>
              <a:ahLst/>
              <a:cxnLst/>
              <a:rect l="textAreaLeft" t="textAreaTop" r="textAreaRight" b="textAreaBottom"/>
              <a:pathLst>
                <a:path w="1103815" h="1784638">
                  <a:moveTo>
                    <a:pt x="18473" y="0"/>
                  </a:moveTo>
                  <a:lnTo>
                    <a:pt x="1085342" y="0"/>
                  </a:lnTo>
                  <a:cubicBezTo>
                    <a:pt x="1095544" y="0"/>
                    <a:pt x="1103815" y="8270"/>
                    <a:pt x="1103815" y="18473"/>
                  </a:cubicBezTo>
                  <a:lnTo>
                    <a:pt x="1103815" y="1766165"/>
                  </a:lnTo>
                  <a:cubicBezTo>
                    <a:pt x="1103815" y="1776367"/>
                    <a:pt x="1095544" y="1784638"/>
                    <a:pt x="1085342" y="1784638"/>
                  </a:cubicBezTo>
                  <a:lnTo>
                    <a:pt x="18473" y="1784638"/>
                  </a:lnTo>
                  <a:cubicBezTo>
                    <a:pt x="8270" y="1784638"/>
                    <a:pt x="0" y="1776367"/>
                    <a:pt x="0" y="1766165"/>
                  </a:cubicBezTo>
                  <a:lnTo>
                    <a:pt x="0" y="18473"/>
                  </a:lnTo>
                  <a:cubicBezTo>
                    <a:pt x="0" y="8270"/>
                    <a:pt x="8270" y="0"/>
                    <a:pt x="1847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204" name="TextBox 8"/>
            <p:cNvSpPr/>
            <p:nvPr/>
          </p:nvSpPr>
          <p:spPr>
            <a:xfrm>
              <a:off x="11744640" y="5837760"/>
              <a:ext cx="4190400" cy="69199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sp>
        <p:nvSpPr>
          <p:cNvPr id="205" name="TextBox 9"/>
          <p:cNvSpPr/>
          <p:nvPr/>
        </p:nvSpPr>
        <p:spPr>
          <a:xfrm>
            <a:off x="12614760" y="6563160"/>
            <a:ext cx="2449800" cy="542160"/>
          </a:xfrm>
          <a:prstGeom prst="rect">
            <a:avLst/>
          </a:prstGeom>
          <a:noFill/>
          <a:ln w="0">
            <a:noFill/>
          </a:ln>
        </p:spPr>
        <p:style>
          <a:lnRef idx="0"/>
          <a:fillRef idx="0"/>
          <a:effectRef idx="0"/>
          <a:fontRef idx="minor"/>
        </p:style>
        <p:txBody>
          <a:bodyPr lIns="0" rIns="0" tIns="0" bIns="0" anchor="t">
            <a:spAutoFit/>
          </a:bodyPr>
          <a:p>
            <a:pPr algn="ctr" defTabSz="914400">
              <a:lnSpc>
                <a:spcPts val="2160"/>
              </a:lnSpc>
            </a:pPr>
            <a:r>
              <a:rPr lang="en-US" sz="1800" b="1" u="none" strike="noStrike">
                <a:solidFill>
                  <a:srgbClr val="a2dd39"/>
                </a:solidFill>
                <a:effectLst/>
                <a:uFillTx/>
                <a:latin typeface="Pattanakarn Bold"/>
                <a:ea typeface="Pattanakarn Bold"/>
              </a:rPr>
              <a:t>Role of incident response teams</a:t>
            </a:r>
            <a:endParaRPr lang="en-ZA" sz="1800" b="0" u="none" strike="noStrike">
              <a:solidFill>
                <a:srgbClr val="ffffff"/>
              </a:solidFill>
              <a:effectLst/>
              <a:uFillTx/>
              <a:latin typeface="Arial"/>
            </a:endParaRPr>
          </a:p>
        </p:txBody>
      </p:sp>
      <p:sp>
        <p:nvSpPr>
          <p:cNvPr id="206" name="TextBox 10"/>
          <p:cNvSpPr/>
          <p:nvPr/>
        </p:nvSpPr>
        <p:spPr>
          <a:xfrm>
            <a:off x="12449520" y="7581600"/>
            <a:ext cx="2780640" cy="1707480"/>
          </a:xfrm>
          <a:prstGeom prst="rect">
            <a:avLst/>
          </a:prstGeom>
          <a:noFill/>
          <a:ln w="0">
            <a:noFill/>
          </a:ln>
        </p:spPr>
        <p:style>
          <a:lnRef idx="0"/>
          <a:fillRef idx="0"/>
          <a:effectRef idx="0"/>
          <a:fontRef idx="minor"/>
        </p:style>
        <p:txBody>
          <a:bodyPr lIns="0" rIns="0" tIns="0" bIns="0" anchor="t">
            <a:spAutoFit/>
          </a:bodyPr>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Investigate and contain security threats</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Analyze phishing attempts and remove malicious content</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Strengthen defenses to prevent future attacks</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Act quickly to protect individuals and the organization</a:t>
            </a:r>
            <a:endParaRPr lang="en-ZA" sz="1400" b="0" u="none" strike="noStrike">
              <a:solidFill>
                <a:srgbClr val="ffffff"/>
              </a:solidFill>
              <a:effectLst/>
              <a:uFillTx/>
              <a:latin typeface="Arial"/>
            </a:endParaRPr>
          </a:p>
        </p:txBody>
      </p:sp>
      <p:grpSp>
        <p:nvGrpSpPr>
          <p:cNvPr id="207" name="Group 11"/>
          <p:cNvGrpSpPr/>
          <p:nvPr/>
        </p:nvGrpSpPr>
        <p:grpSpPr>
          <a:xfrm>
            <a:off x="7048440" y="5308920"/>
            <a:ext cx="4190400" cy="6919920"/>
            <a:chOff x="7048440" y="5308920"/>
            <a:chExt cx="4190400" cy="6919920"/>
          </a:xfrm>
        </p:grpSpPr>
        <p:sp>
          <p:nvSpPr>
            <p:cNvPr id="208" name="Freeform 12"/>
            <p:cNvSpPr/>
            <p:nvPr/>
          </p:nvSpPr>
          <p:spPr>
            <a:xfrm>
              <a:off x="7048440" y="5453280"/>
              <a:ext cx="4190400" cy="6775200"/>
            </a:xfrm>
            <a:custGeom>
              <a:avLst/>
              <a:gdLst>
                <a:gd name="textAreaLeft" fmla="*/ 0 w 4190400"/>
                <a:gd name="textAreaRight" fmla="*/ 4191120 w 4190400"/>
                <a:gd name="textAreaTop" fmla="*/ 0 h 6775200"/>
                <a:gd name="textAreaBottom" fmla="*/ 6775920 h 6775200"/>
              </a:gdLst>
              <a:ahLst/>
              <a:cxnLst/>
              <a:rect l="textAreaLeft" t="textAreaTop" r="textAreaRight" b="textAreaBottom"/>
              <a:pathLst>
                <a:path w="1103815" h="1784638">
                  <a:moveTo>
                    <a:pt x="18473" y="0"/>
                  </a:moveTo>
                  <a:lnTo>
                    <a:pt x="1085342" y="0"/>
                  </a:lnTo>
                  <a:cubicBezTo>
                    <a:pt x="1095544" y="0"/>
                    <a:pt x="1103815" y="8270"/>
                    <a:pt x="1103815" y="18473"/>
                  </a:cubicBezTo>
                  <a:lnTo>
                    <a:pt x="1103815" y="1766165"/>
                  </a:lnTo>
                  <a:cubicBezTo>
                    <a:pt x="1103815" y="1776367"/>
                    <a:pt x="1095544" y="1784638"/>
                    <a:pt x="1085342" y="1784638"/>
                  </a:cubicBezTo>
                  <a:lnTo>
                    <a:pt x="18473" y="1784638"/>
                  </a:lnTo>
                  <a:cubicBezTo>
                    <a:pt x="8270" y="1784638"/>
                    <a:pt x="0" y="1776367"/>
                    <a:pt x="0" y="1766165"/>
                  </a:cubicBezTo>
                  <a:lnTo>
                    <a:pt x="0" y="18473"/>
                  </a:lnTo>
                  <a:cubicBezTo>
                    <a:pt x="0" y="8270"/>
                    <a:pt x="8270" y="0"/>
                    <a:pt x="1847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209" name="TextBox 13"/>
            <p:cNvSpPr/>
            <p:nvPr/>
          </p:nvSpPr>
          <p:spPr>
            <a:xfrm>
              <a:off x="7048440" y="5308920"/>
              <a:ext cx="4190400" cy="69199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sp>
        <p:nvSpPr>
          <p:cNvPr id="210" name="TextBox 14"/>
          <p:cNvSpPr/>
          <p:nvPr/>
        </p:nvSpPr>
        <p:spPr>
          <a:xfrm>
            <a:off x="7836120" y="6146280"/>
            <a:ext cx="2615040" cy="808920"/>
          </a:xfrm>
          <a:prstGeom prst="rect">
            <a:avLst/>
          </a:prstGeom>
          <a:noFill/>
          <a:ln w="0">
            <a:noFill/>
          </a:ln>
        </p:spPr>
        <p:style>
          <a:lnRef idx="0"/>
          <a:fillRef idx="0"/>
          <a:effectRef idx="0"/>
          <a:fontRef idx="minor"/>
        </p:style>
        <p:txBody>
          <a:bodyPr lIns="0" rIns="0" tIns="0" bIns="0" anchor="t">
            <a:spAutoFit/>
          </a:bodyPr>
          <a:p>
            <a:pPr algn="ctr" defTabSz="914400">
              <a:lnSpc>
                <a:spcPts val="2160"/>
              </a:lnSpc>
            </a:pPr>
            <a:r>
              <a:rPr lang="en-US" sz="1800" b="1" u="none" strike="noStrike">
                <a:solidFill>
                  <a:srgbClr val="a2dd39"/>
                </a:solidFill>
                <a:effectLst/>
                <a:uFillTx/>
                <a:latin typeface="Pattanakarn Bold"/>
                <a:ea typeface="Pattanakarn Bold"/>
              </a:rPr>
              <a:t>How to report suspicious activity in your organization</a:t>
            </a:r>
            <a:endParaRPr lang="en-ZA" sz="1800" b="0" u="none" strike="noStrike">
              <a:solidFill>
                <a:srgbClr val="ffffff"/>
              </a:solidFill>
              <a:effectLst/>
              <a:uFillTx/>
              <a:latin typeface="Arial"/>
            </a:endParaRPr>
          </a:p>
        </p:txBody>
      </p:sp>
      <p:sp>
        <p:nvSpPr>
          <p:cNvPr id="211" name="TextBox 15"/>
          <p:cNvSpPr/>
          <p:nvPr/>
        </p:nvSpPr>
        <p:spPr>
          <a:xfrm>
            <a:off x="7753320" y="7581600"/>
            <a:ext cx="2780640" cy="1921680"/>
          </a:xfrm>
          <a:prstGeom prst="rect">
            <a:avLst/>
          </a:prstGeom>
          <a:noFill/>
          <a:ln w="0">
            <a:noFill/>
          </a:ln>
        </p:spPr>
        <p:style>
          <a:lnRef idx="0"/>
          <a:fillRef idx="0"/>
          <a:effectRef idx="0"/>
          <a:fontRef idx="minor"/>
        </p:style>
        <p:txBody>
          <a:bodyPr lIns="0" rIns="0" tIns="0" bIns="0" anchor="t">
            <a:spAutoFit/>
          </a:bodyPr>
          <a:p>
            <a:pPr marL="216000" indent="-216000" algn="ctr" defTabSz="914400">
              <a:lnSpc>
                <a:spcPts val="1681"/>
              </a:lnSpc>
              <a:buClr>
                <a:srgbClr val="ffffff"/>
              </a:buClr>
              <a:buSzPct val="45000"/>
              <a:buFont typeface="Wingdings" charset="2"/>
              <a:buChar char=""/>
            </a:pPr>
            <a:r>
              <a:rPr lang="en-US" sz="1400" b="0" u="none" strike="noStrike">
                <a:solidFill>
                  <a:srgbClr val="d7e7c6"/>
                </a:solidFill>
                <a:effectLst/>
                <a:uFillTx/>
                <a:latin typeface="Pattanakarn Light"/>
                <a:ea typeface="Pattanakarn Light"/>
              </a:rPr>
              <a:t>Follow your company’s reporting process (e.g., “Report Phishing” button or IT contact)</a:t>
            </a:r>
            <a:endParaRPr lang="en-ZA" sz="1400" b="0" u="none" strike="noStrike">
              <a:solidFill>
                <a:srgbClr val="ffffff"/>
              </a:solidFill>
              <a:effectLst/>
              <a:uFillTx/>
              <a:latin typeface="Arial"/>
            </a:endParaRPr>
          </a:p>
          <a:p>
            <a:pPr marL="216000" indent="-216000" algn="ctr" defTabSz="914400">
              <a:lnSpc>
                <a:spcPts val="1681"/>
              </a:lnSpc>
              <a:buClr>
                <a:srgbClr val="ffffff"/>
              </a:buClr>
              <a:buSzPct val="45000"/>
              <a:buFont typeface="Wingdings" charset="2"/>
              <a:buChar char=""/>
            </a:pPr>
            <a:r>
              <a:rPr lang="en-US" sz="1400" b="0" u="none" strike="noStrike">
                <a:solidFill>
                  <a:srgbClr val="d7e7c6"/>
                </a:solidFill>
                <a:effectLst/>
                <a:uFillTx/>
                <a:latin typeface="Pattanakarn Light"/>
                <a:ea typeface="Pattanakarn Light"/>
              </a:rPr>
              <a:t>Forward suspicious emails to the security team</a:t>
            </a:r>
            <a:endParaRPr lang="en-ZA" sz="1400" b="0" u="none" strike="noStrike">
              <a:solidFill>
                <a:srgbClr val="ffffff"/>
              </a:solidFill>
              <a:effectLst/>
              <a:uFillTx/>
              <a:latin typeface="Arial"/>
            </a:endParaRPr>
          </a:p>
          <a:p>
            <a:pPr marL="216000" indent="-216000" algn="ctr" defTabSz="914400">
              <a:lnSpc>
                <a:spcPts val="1681"/>
              </a:lnSpc>
              <a:buClr>
                <a:srgbClr val="ffffff"/>
              </a:buClr>
              <a:buSzPct val="45000"/>
              <a:buFont typeface="Wingdings" charset="2"/>
              <a:buChar char=""/>
            </a:pPr>
            <a:r>
              <a:rPr lang="en-US" sz="1400" b="0" u="none" strike="noStrike">
                <a:solidFill>
                  <a:srgbClr val="d7e7c6"/>
                </a:solidFill>
                <a:effectLst/>
                <a:uFillTx/>
                <a:latin typeface="Pattanakarn Light"/>
                <a:ea typeface="Pattanakarn Light"/>
              </a:rPr>
              <a:t>Never ignore or delete suspicious messages without reporting</a:t>
            </a:r>
            <a:endParaRPr lang="en-ZA" sz="1400" b="0" u="none" strike="noStrike">
              <a:solidFill>
                <a:srgbClr val="ffffff"/>
              </a:solidFill>
              <a:effectLst/>
              <a:uFillTx/>
              <a:latin typeface="Arial"/>
            </a:endParaRPr>
          </a:p>
          <a:p>
            <a:pPr marL="216000" indent="-216000" algn="ctr" defTabSz="914400">
              <a:lnSpc>
                <a:spcPts val="1681"/>
              </a:lnSpc>
              <a:buClr>
                <a:srgbClr val="ffffff"/>
              </a:buClr>
              <a:buSzPct val="45000"/>
              <a:buFont typeface="Wingdings" charset="2"/>
              <a:buChar char=""/>
            </a:pPr>
            <a:r>
              <a:rPr lang="en-US" sz="1400" b="0" u="none" strike="noStrike">
                <a:solidFill>
                  <a:srgbClr val="d7e7c6"/>
                </a:solidFill>
                <a:effectLst/>
                <a:uFillTx/>
                <a:latin typeface="Pattanakarn Light"/>
                <a:ea typeface="Pattanakarn Light"/>
              </a:rPr>
              <a:t>Confirm with IT if you’re unsure how to proceed</a:t>
            </a:r>
            <a:endParaRPr lang="en-ZA" sz="1400" b="0" u="none" strike="noStrike">
              <a:solidFill>
                <a:srgbClr val="ffffff"/>
              </a:solidFill>
              <a:effectLst/>
              <a:uFillTx/>
              <a:latin typeface="Arial"/>
            </a:endParaRPr>
          </a:p>
        </p:txBody>
      </p:sp>
      <p:grpSp>
        <p:nvGrpSpPr>
          <p:cNvPr id="212" name="Group 16"/>
          <p:cNvGrpSpPr/>
          <p:nvPr/>
        </p:nvGrpSpPr>
        <p:grpSpPr>
          <a:xfrm>
            <a:off x="2352600" y="5837760"/>
            <a:ext cx="4190400" cy="6919920"/>
            <a:chOff x="2352600" y="5837760"/>
            <a:chExt cx="4190400" cy="6919920"/>
          </a:xfrm>
        </p:grpSpPr>
        <p:sp>
          <p:nvSpPr>
            <p:cNvPr id="213" name="Freeform 17"/>
            <p:cNvSpPr/>
            <p:nvPr/>
          </p:nvSpPr>
          <p:spPr>
            <a:xfrm>
              <a:off x="2352600" y="5982480"/>
              <a:ext cx="4190400" cy="6775200"/>
            </a:xfrm>
            <a:custGeom>
              <a:avLst/>
              <a:gdLst>
                <a:gd name="textAreaLeft" fmla="*/ 0 w 4190400"/>
                <a:gd name="textAreaRight" fmla="*/ 4191120 w 4190400"/>
                <a:gd name="textAreaTop" fmla="*/ 0 h 6775200"/>
                <a:gd name="textAreaBottom" fmla="*/ 6775920 h 6775200"/>
              </a:gdLst>
              <a:ahLst/>
              <a:cxnLst/>
              <a:rect l="textAreaLeft" t="textAreaTop" r="textAreaRight" b="textAreaBottom"/>
              <a:pathLst>
                <a:path w="1103815" h="1784638">
                  <a:moveTo>
                    <a:pt x="18473" y="0"/>
                  </a:moveTo>
                  <a:lnTo>
                    <a:pt x="1085342" y="0"/>
                  </a:lnTo>
                  <a:cubicBezTo>
                    <a:pt x="1095544" y="0"/>
                    <a:pt x="1103815" y="8270"/>
                    <a:pt x="1103815" y="18473"/>
                  </a:cubicBezTo>
                  <a:lnTo>
                    <a:pt x="1103815" y="1766165"/>
                  </a:lnTo>
                  <a:cubicBezTo>
                    <a:pt x="1103815" y="1776367"/>
                    <a:pt x="1095544" y="1784638"/>
                    <a:pt x="1085342" y="1784638"/>
                  </a:cubicBezTo>
                  <a:lnTo>
                    <a:pt x="18473" y="1784638"/>
                  </a:lnTo>
                  <a:cubicBezTo>
                    <a:pt x="8270" y="1784638"/>
                    <a:pt x="0" y="1776367"/>
                    <a:pt x="0" y="1766165"/>
                  </a:cubicBezTo>
                  <a:lnTo>
                    <a:pt x="0" y="18473"/>
                  </a:lnTo>
                  <a:cubicBezTo>
                    <a:pt x="0" y="8270"/>
                    <a:pt x="8270" y="0"/>
                    <a:pt x="1847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214" name="TextBox 18"/>
            <p:cNvSpPr/>
            <p:nvPr/>
          </p:nvSpPr>
          <p:spPr>
            <a:xfrm>
              <a:off x="2352600" y="5837760"/>
              <a:ext cx="4190400" cy="69199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sp>
        <p:nvSpPr>
          <p:cNvPr id="215" name="TextBox 19"/>
          <p:cNvSpPr/>
          <p:nvPr/>
        </p:nvSpPr>
        <p:spPr>
          <a:xfrm>
            <a:off x="3222720" y="6563160"/>
            <a:ext cx="2449800" cy="542160"/>
          </a:xfrm>
          <a:prstGeom prst="rect">
            <a:avLst/>
          </a:prstGeom>
          <a:noFill/>
          <a:ln w="0">
            <a:noFill/>
          </a:ln>
        </p:spPr>
        <p:style>
          <a:lnRef idx="0"/>
          <a:fillRef idx="0"/>
          <a:effectRef idx="0"/>
          <a:fontRef idx="minor"/>
        </p:style>
        <p:txBody>
          <a:bodyPr lIns="0" rIns="0" tIns="0" bIns="0" anchor="t">
            <a:spAutoFit/>
          </a:bodyPr>
          <a:p>
            <a:pPr algn="ctr" defTabSz="914400">
              <a:lnSpc>
                <a:spcPts val="2160"/>
              </a:lnSpc>
            </a:pPr>
            <a:r>
              <a:rPr lang="en-US" sz="1800" b="1" u="none" strike="noStrike">
                <a:solidFill>
                  <a:srgbClr val="a2dd39"/>
                </a:solidFill>
                <a:effectLst/>
                <a:uFillTx/>
                <a:latin typeface="Pattanakarn Bold"/>
                <a:ea typeface="Pattanakarn Bold"/>
              </a:rPr>
              <a:t>Why early reporting is critical</a:t>
            </a:r>
            <a:endParaRPr lang="en-ZA" sz="1800" b="0" u="none" strike="noStrike">
              <a:solidFill>
                <a:srgbClr val="ffffff"/>
              </a:solidFill>
              <a:effectLst/>
              <a:uFillTx/>
              <a:latin typeface="Arial"/>
            </a:endParaRPr>
          </a:p>
        </p:txBody>
      </p:sp>
      <p:sp>
        <p:nvSpPr>
          <p:cNvPr id="216" name="TextBox 20"/>
          <p:cNvSpPr/>
          <p:nvPr/>
        </p:nvSpPr>
        <p:spPr>
          <a:xfrm>
            <a:off x="3057480" y="7581600"/>
            <a:ext cx="2780640" cy="3029400"/>
          </a:xfrm>
          <a:prstGeom prst="rect">
            <a:avLst/>
          </a:prstGeom>
          <a:noFill/>
          <a:ln w="0">
            <a:noFill/>
          </a:ln>
        </p:spPr>
        <p:style>
          <a:lnRef idx="0"/>
          <a:fillRef idx="0"/>
          <a:effectRef idx="0"/>
          <a:fontRef idx="minor"/>
        </p:style>
        <p:txBody>
          <a:bodyPr lIns="0" rIns="0" tIns="0" bIns="0" anchor="t">
            <a:spAutoFit/>
          </a:bodyPr>
          <a:p>
            <a:pPr marL="216000" indent="-216000" algn="ctr" defTabSz="914400">
              <a:lnSpc>
                <a:spcPts val="1681"/>
              </a:lnSpc>
              <a:spcBef>
                <a:spcPts val="1191"/>
              </a:spcBef>
              <a:spcAft>
                <a:spcPts val="992"/>
              </a:spcAft>
              <a:buClr>
                <a:srgbClr val="d7e7c6"/>
              </a:buClr>
              <a:buFont typeface="Symbol" charset="2"/>
              <a:buChar char=""/>
            </a:pPr>
            <a:r>
              <a:rPr lang="en-US" sz="1400" b="0" u="none" strike="noStrike">
                <a:solidFill>
                  <a:srgbClr val="d7e7c6"/>
                </a:solidFill>
                <a:effectLst/>
                <a:uFillTx/>
                <a:latin typeface="Pattanakarn Light"/>
                <a:ea typeface="Pattanakarn Light"/>
              </a:rPr>
              <a:t>Stops attacks before they spread</a:t>
            </a:r>
            <a:endParaRPr lang="en-ZA" sz="1400" b="0" u="none" strike="noStrike">
              <a:solidFill>
                <a:srgbClr val="ffffff"/>
              </a:solidFill>
              <a:effectLst/>
              <a:uFillTx/>
              <a:latin typeface="Arial"/>
            </a:endParaRPr>
          </a:p>
          <a:p>
            <a:pPr marL="216000" indent="-216000" algn="ctr" defTabSz="914400">
              <a:lnSpc>
                <a:spcPts val="1681"/>
              </a:lnSpc>
              <a:spcBef>
                <a:spcPts val="1191"/>
              </a:spcBef>
              <a:spcAft>
                <a:spcPts val="992"/>
              </a:spcAft>
              <a:buClr>
                <a:srgbClr val="d7e7c6"/>
              </a:buClr>
              <a:buFont typeface="Symbol" charset="2"/>
              <a:buChar char=""/>
            </a:pPr>
            <a:r>
              <a:rPr lang="en-US" sz="1400" b="0" u="none" strike="noStrike">
                <a:solidFill>
                  <a:srgbClr val="d7e7c6"/>
                </a:solidFill>
                <a:effectLst/>
                <a:uFillTx/>
                <a:latin typeface="Pattanakarn Light"/>
                <a:ea typeface="Pattanakarn Light"/>
              </a:rPr>
              <a:t>Limits damage and protects sensitive data</a:t>
            </a:r>
            <a:endParaRPr lang="en-ZA" sz="1400" b="0" u="none" strike="noStrike">
              <a:solidFill>
                <a:srgbClr val="ffffff"/>
              </a:solidFill>
              <a:effectLst/>
              <a:uFillTx/>
              <a:latin typeface="Arial"/>
            </a:endParaRPr>
          </a:p>
          <a:p>
            <a:pPr marL="216000" indent="-216000" algn="ctr" defTabSz="914400">
              <a:lnSpc>
                <a:spcPts val="1681"/>
              </a:lnSpc>
              <a:spcBef>
                <a:spcPts val="1191"/>
              </a:spcBef>
              <a:spcAft>
                <a:spcPts val="992"/>
              </a:spcAft>
              <a:buClr>
                <a:srgbClr val="d7e7c6"/>
              </a:buClr>
              <a:buFont typeface="Symbol" charset="2"/>
              <a:buChar char=""/>
            </a:pPr>
            <a:r>
              <a:rPr lang="en-ZA" sz="1400" b="0" u="none" strike="noStrike">
                <a:solidFill>
                  <a:srgbClr val="ffffff"/>
                </a:solidFill>
                <a:effectLst/>
                <a:uFillTx/>
                <a:latin typeface="Arial"/>
                <a:ea typeface="Pattanakarn Light"/>
              </a:rPr>
              <a:t>Gives security teams time to respond effectively</a:t>
            </a:r>
            <a:endParaRPr lang="en-ZA" sz="1400" b="0" u="none" strike="noStrike">
              <a:solidFill>
                <a:srgbClr val="ffffff"/>
              </a:solidFill>
              <a:effectLst/>
              <a:uFillTx/>
              <a:latin typeface="Arial"/>
            </a:endParaRPr>
          </a:p>
          <a:p>
            <a:pPr marL="216000" indent="-216000" algn="ctr" defTabSz="914400">
              <a:lnSpc>
                <a:spcPts val="1681"/>
              </a:lnSpc>
              <a:spcBef>
                <a:spcPts val="1191"/>
              </a:spcBef>
              <a:spcAft>
                <a:spcPts val="992"/>
              </a:spcAft>
              <a:buClr>
                <a:srgbClr val="d7e7c6"/>
              </a:buClr>
              <a:buFont typeface="Symbol" charset="2"/>
              <a:buChar char=""/>
            </a:pPr>
            <a:r>
              <a:rPr lang="en-ZA" sz="1400" b="0" u="none" strike="noStrike">
                <a:solidFill>
                  <a:srgbClr val="ffffff"/>
                </a:solidFill>
                <a:effectLst/>
                <a:uFillTx/>
                <a:latin typeface="Arial"/>
                <a:ea typeface="Pattanakarn Light"/>
              </a:rPr>
              <a:t>Prevents attackers from gaining deeper access</a:t>
            </a:r>
            <a:endParaRPr lang="en-ZA" sz="1400" b="0" u="none" strike="noStrike">
              <a:solidFill>
                <a:srgbClr val="ffffff"/>
              </a:solidFill>
              <a:effectLst/>
              <a:uFillTx/>
              <a:latin typeface="Arial"/>
            </a:endParaRPr>
          </a:p>
          <a:p>
            <a:pPr algn="ctr" defTabSz="914400">
              <a:lnSpc>
                <a:spcPts val="1681"/>
              </a:lnSpc>
              <a:spcBef>
                <a:spcPts val="1191"/>
              </a:spcBef>
              <a:spcAft>
                <a:spcPts val="992"/>
              </a:spcAft>
            </a:pPr>
            <a:endParaRPr lang="en-ZA" sz="1400" b="0" u="none" strike="noStrike">
              <a:solidFill>
                <a:srgbClr val="ffffff"/>
              </a:solidFill>
              <a:effectLst/>
              <a:uFillTx/>
              <a:latin typeface="Arial"/>
            </a:endParaRPr>
          </a:p>
        </p:txBody>
      </p:sp>
      <p:sp>
        <p:nvSpPr>
          <p:cNvPr id="217" name="Freeform 21"/>
          <p:cNvSpPr/>
          <p:nvPr/>
        </p:nvSpPr>
        <p:spPr>
          <a:xfrm flipV="1">
            <a:off x="1028880" y="3510720"/>
            <a:ext cx="862200" cy="372600"/>
          </a:xfrm>
          <a:custGeom>
            <a:avLst/>
            <a:gdLst>
              <a:gd name="textAreaLeft" fmla="*/ 0 w 862200"/>
              <a:gd name="textAreaRight" fmla="*/ 862920 w 862200"/>
              <a:gd name="textAreaTop" fmla="*/ 360 h 372600"/>
              <a:gd name="textAreaBottom" fmla="*/ 373680 h 372600"/>
            </a:gdLst>
            <a:ahLst/>
            <a:cxnLst/>
            <a:rect l="textAreaLeft" t="textAreaTop" r="textAreaRight" b="textAreaBottom"/>
            <a:pathLst>
              <a:path w="862959" h="373426">
                <a:moveTo>
                  <a:pt x="0" y="373426"/>
                </a:moveTo>
                <a:lnTo>
                  <a:pt x="862959" y="373426"/>
                </a:lnTo>
                <a:lnTo>
                  <a:pt x="862959" y="0"/>
                </a:lnTo>
                <a:lnTo>
                  <a:pt x="0" y="0"/>
                </a:lnTo>
                <a:lnTo>
                  <a:pt x="0" y="373426"/>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218" name="Freeform 22"/>
          <p:cNvSpPr/>
          <p:nvPr/>
        </p:nvSpPr>
        <p:spPr>
          <a:xfrm flipH="1" flipV="1">
            <a:off x="16391880" y="3510720"/>
            <a:ext cx="862200" cy="372600"/>
          </a:xfrm>
          <a:custGeom>
            <a:avLst/>
            <a:gdLst>
              <a:gd name="textAreaLeft" fmla="*/ 360 w 862200"/>
              <a:gd name="textAreaRight" fmla="*/ 863280 w 862200"/>
              <a:gd name="textAreaTop" fmla="*/ 360 h 372600"/>
              <a:gd name="textAreaBottom" fmla="*/ 373680 h 372600"/>
            </a:gdLst>
            <a:ahLst/>
            <a:cxnLst/>
            <a:rect l="textAreaLeft" t="textAreaTop" r="textAreaRight" b="textAreaBottom"/>
            <a:pathLst>
              <a:path w="862959" h="373426">
                <a:moveTo>
                  <a:pt x="862959" y="373426"/>
                </a:moveTo>
                <a:lnTo>
                  <a:pt x="0" y="373426"/>
                </a:lnTo>
                <a:lnTo>
                  <a:pt x="0" y="0"/>
                </a:lnTo>
                <a:lnTo>
                  <a:pt x="862959" y="0"/>
                </a:lnTo>
                <a:lnTo>
                  <a:pt x="862959" y="373426"/>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219" name="Freeform 23"/>
          <p:cNvSpPr/>
          <p:nvPr/>
        </p:nvSpPr>
        <p:spPr>
          <a:xfrm>
            <a:off x="1028880" y="91792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220" name="Freeform 24"/>
          <p:cNvSpPr/>
          <p:nvPr/>
        </p:nvSpPr>
        <p:spPr>
          <a:xfrm>
            <a:off x="16939440" y="917928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64" dur="indefinite" restart="never" nodeType="tmRoot">
          <p:childTnLst>
            <p:seq>
              <p:cTn id="65" dur="indefinite" nodeType="mainSeq">
                <p:childTnLst>
                  <p:par>
                    <p:cTn id="66" fill="hold">
                      <p:stCondLst>
                        <p:cond delay="0"/>
                      </p:stCondLst>
                      <p:childTnLst>
                        <p:par>
                          <p:cTn id="67" fill="hold">
                            <p:stCondLst>
                              <p:cond delay="0"/>
                            </p:stCondLst>
                            <p:childTnLst>
                              <p:par>
                                <p:cTn id="68" presetID="40" presetClass="entr" fill="hold" nodeType="afterEffect">
                                  <p:stCondLst>
                                    <p:cond delay="0"/>
                                  </p:stCondLst>
                                  <p:childTnLst>
                                    <p:set>
                                      <p:cBhvr>
                                        <p:cTn id="69" dur="1" fill="hold">
                                          <p:stCondLst>
                                            <p:cond delay="0"/>
                                          </p:stCondLst>
                                        </p:cTn>
                                        <p:tgtEl>
                                          <p:spTgt spid="199"/>
                                        </p:tgtEl>
                                        <p:attrNameLst>
                                          <p:attrName>style.visibility</p:attrName>
                                        </p:attrNameLst>
                                      </p:cBhvr>
                                      <p:to>
                                        <p:strVal val="visible"/>
                                      </p:to>
                                    </p:set>
                                    <p:animEffect filter="fade" transition="in">
                                      <p:cBhvr additive="repl">
                                        <p:cTn id="70" dur="1000"/>
                                        <p:tgtEl>
                                          <p:spTgt spid="199"/>
                                        </p:tgtEl>
                                      </p:cBhvr>
                                    </p:animEffect>
                                    <p:anim calcmode="lin" valueType="num">
                                      <p:cBhvr additive="repl">
                                        <p:cTn id="71" dur="1000" fill="hold"/>
                                        <p:tgtEl>
                                          <p:spTgt spid="199"/>
                                        </p:tgtEl>
                                        <p:attrNameLst>
                                          <p:attrName>ppt_x</p:attrName>
                                        </p:attrNameLst>
                                      </p:cBhvr>
                                      <p:tavLst>
                                        <p:tav>
                                          <p:val>
                                            <p:strVal val="#ppt_x-.1"/>
                                          </p:val>
                                        </p:tav>
                                        <p:tav tm="100000">
                                          <p:val>
                                            <p:strVal val="#ppt_x"/>
                                          </p:val>
                                        </p:tav>
                                      </p:tavLst>
                                    </p:anim>
                                    <p:anim calcmode="lin" valueType="num">
                                      <p:cBhvr additive="repl">
                                        <p:cTn id="72" dur="1000" fill="hold"/>
                                        <p:tgtEl>
                                          <p:spTgt spid="199"/>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1"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nvGrpSpPr>
          <p:cNvPr id="222" name="Group 6"/>
          <p:cNvGrpSpPr/>
          <p:nvPr/>
        </p:nvGrpSpPr>
        <p:grpSpPr>
          <a:xfrm>
            <a:off x="12522600" y="2446200"/>
            <a:ext cx="9093600" cy="9773640"/>
            <a:chOff x="12522600" y="2446200"/>
            <a:chExt cx="9093600" cy="9773640"/>
          </a:xfrm>
        </p:grpSpPr>
        <p:sp>
          <p:nvSpPr>
            <p:cNvPr id="223" name="Freeform 7"/>
            <p:cNvSpPr/>
            <p:nvPr/>
          </p:nvSpPr>
          <p:spPr>
            <a:xfrm>
              <a:off x="12522600" y="2590920"/>
              <a:ext cx="9093600" cy="9628920"/>
            </a:xfrm>
            <a:custGeom>
              <a:avLst/>
              <a:gdLst>
                <a:gd name="textAreaLeft" fmla="*/ 0 w 9093600"/>
                <a:gd name="textAreaRight" fmla="*/ 9094320 w 9093600"/>
                <a:gd name="textAreaTop" fmla="*/ 0 h 9628920"/>
                <a:gd name="textAreaBottom" fmla="*/ 9629640 h 9628920"/>
              </a:gdLst>
              <a:ahLst/>
              <a:cxnLst/>
              <a:rect l="textAreaLeft" t="textAreaTop" r="textAreaRight" b="textAreaBottom"/>
              <a:pathLst>
                <a:path w="2395205" h="2536248">
                  <a:moveTo>
                    <a:pt x="8513" y="0"/>
                  </a:moveTo>
                  <a:lnTo>
                    <a:pt x="2386692" y="0"/>
                  </a:lnTo>
                  <a:cubicBezTo>
                    <a:pt x="2388950" y="0"/>
                    <a:pt x="2391115" y="897"/>
                    <a:pt x="2392712" y="2493"/>
                  </a:cubicBezTo>
                  <a:cubicBezTo>
                    <a:pt x="2394309" y="4090"/>
                    <a:pt x="2395205" y="6255"/>
                    <a:pt x="2395205" y="8513"/>
                  </a:cubicBezTo>
                  <a:lnTo>
                    <a:pt x="2395205" y="2527735"/>
                  </a:lnTo>
                  <a:cubicBezTo>
                    <a:pt x="2395205" y="2532436"/>
                    <a:pt x="2391394" y="2536248"/>
                    <a:pt x="2386692" y="2536248"/>
                  </a:cubicBezTo>
                  <a:lnTo>
                    <a:pt x="8513" y="2536248"/>
                  </a:lnTo>
                  <a:cubicBezTo>
                    <a:pt x="3811" y="2536248"/>
                    <a:pt x="0" y="2532436"/>
                    <a:pt x="0" y="2527735"/>
                  </a:cubicBezTo>
                  <a:lnTo>
                    <a:pt x="0" y="8513"/>
                  </a:lnTo>
                  <a:cubicBezTo>
                    <a:pt x="0" y="3811"/>
                    <a:pt x="3811" y="0"/>
                    <a:pt x="8513"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224" name="TextBox 8"/>
            <p:cNvSpPr/>
            <p:nvPr/>
          </p:nvSpPr>
          <p:spPr>
            <a:xfrm>
              <a:off x="12522600" y="2446200"/>
              <a:ext cx="9093600" cy="97736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225" name="Group 9"/>
          <p:cNvGrpSpPr/>
          <p:nvPr/>
        </p:nvGrpSpPr>
        <p:grpSpPr>
          <a:xfrm>
            <a:off x="12532320" y="4478400"/>
            <a:ext cx="5764680" cy="4779360"/>
            <a:chOff x="12532320" y="4478400"/>
            <a:chExt cx="5764680" cy="4779360"/>
          </a:xfrm>
        </p:grpSpPr>
        <p:sp>
          <p:nvSpPr>
            <p:cNvPr id="226" name="Freeform 10"/>
            <p:cNvSpPr/>
            <p:nvPr/>
          </p:nvSpPr>
          <p:spPr>
            <a:xfrm>
              <a:off x="12532320" y="4478400"/>
              <a:ext cx="5764680" cy="4779360"/>
            </a:xfrm>
            <a:custGeom>
              <a:avLst/>
              <a:gdLst>
                <a:gd name="textAreaLeft" fmla="*/ 0 w 5764680"/>
                <a:gd name="textAreaRight" fmla="*/ 5765400 w 5764680"/>
                <a:gd name="textAreaTop" fmla="*/ 0 h 4779360"/>
                <a:gd name="textAreaBottom" fmla="*/ 4780080 h 4779360"/>
              </a:gdLst>
              <a:ahLst/>
              <a:cxnLst/>
              <a:rect l="textAreaLeft" t="textAreaTop" r="textAreaRight" b="textAreaBottom"/>
              <a:pathLst>
                <a:path w="893187" h="740539">
                  <a:moveTo>
                    <a:pt x="0" y="0"/>
                  </a:moveTo>
                  <a:lnTo>
                    <a:pt x="893187" y="0"/>
                  </a:lnTo>
                  <a:lnTo>
                    <a:pt x="893187" y="740539"/>
                  </a:lnTo>
                  <a:lnTo>
                    <a:pt x="0" y="740539"/>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227" name="Freeform 11"/>
          <p:cNvSpPr/>
          <p:nvPr/>
        </p:nvSpPr>
        <p:spPr>
          <a:xfrm>
            <a:off x="1028880" y="8458920"/>
            <a:ext cx="808920" cy="815040"/>
          </a:xfrm>
          <a:custGeom>
            <a:avLst/>
            <a:gdLst>
              <a:gd name="textAreaLeft" fmla="*/ 0 w 808920"/>
              <a:gd name="textAreaRight" fmla="*/ 809640 w 808920"/>
              <a:gd name="textAreaTop" fmla="*/ 0 h 815040"/>
              <a:gd name="textAreaBottom" fmla="*/ 815760 h 815040"/>
            </a:gdLst>
            <a:ahLst/>
            <a:cxnLst/>
            <a:rect l="textAreaLeft" t="textAreaTop" r="textAreaRight" b="textAreaBottom"/>
            <a:pathLst>
              <a:path w="809744" h="815676">
                <a:moveTo>
                  <a:pt x="0" y="0"/>
                </a:moveTo>
                <a:lnTo>
                  <a:pt x="809744" y="0"/>
                </a:lnTo>
                <a:lnTo>
                  <a:pt x="809744" y="815676"/>
                </a:lnTo>
                <a:lnTo>
                  <a:pt x="0" y="815676"/>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228" name="Freeform 12"/>
          <p:cNvSpPr/>
          <p:nvPr/>
        </p:nvSpPr>
        <p:spPr>
          <a:xfrm>
            <a:off x="14415840" y="3403800"/>
            <a:ext cx="2842920" cy="294120"/>
          </a:xfrm>
          <a:custGeom>
            <a:avLst/>
            <a:gdLst>
              <a:gd name="textAreaLeft" fmla="*/ 0 w 2842920"/>
              <a:gd name="textAreaRight" fmla="*/ 2843640 w 2842920"/>
              <a:gd name="textAreaTop" fmla="*/ 0 h 294120"/>
              <a:gd name="textAreaBottom" fmla="*/ 294840 h 294120"/>
            </a:gdLst>
            <a:ahLst/>
            <a:cxnLst/>
            <a:rect l="textAreaLeft" t="textAreaTop" r="textAreaRight" b="textAreaBottom"/>
            <a:pathLst>
              <a:path w="2843498" h="294690">
                <a:moveTo>
                  <a:pt x="0" y="0"/>
                </a:moveTo>
                <a:lnTo>
                  <a:pt x="2843498" y="0"/>
                </a:lnTo>
                <a:lnTo>
                  <a:pt x="2843498" y="294690"/>
                </a:lnTo>
                <a:lnTo>
                  <a:pt x="0" y="294690"/>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229" name="Freeform 13"/>
          <p:cNvSpPr/>
          <p:nvPr/>
        </p:nvSpPr>
        <p:spPr>
          <a:xfrm>
            <a:off x="1028880" y="662040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230" name="TextBox 14"/>
          <p:cNvSpPr/>
          <p:nvPr/>
        </p:nvSpPr>
        <p:spPr>
          <a:xfrm>
            <a:off x="3285360" y="2672280"/>
            <a:ext cx="7890840" cy="2298960"/>
          </a:xfrm>
          <a:prstGeom prst="rect">
            <a:avLst/>
          </a:prstGeom>
          <a:noFill/>
          <a:ln w="0">
            <a:noFill/>
          </a:ln>
        </p:spPr>
        <p:style>
          <a:lnRef idx="0"/>
          <a:fillRef idx="0"/>
          <a:effectRef idx="0"/>
          <a:fontRef idx="minor"/>
        </p:style>
        <p:txBody>
          <a:bodyPr lIns="0" rIns="0" tIns="0" bIns="0" anchor="t">
            <a:spAutoFit/>
          </a:bodyPr>
          <a:p>
            <a:pPr defTabSz="914400">
              <a:lnSpc>
                <a:spcPts val="8739"/>
              </a:lnSpc>
            </a:pPr>
            <a:r>
              <a:rPr lang="en-US" sz="9500" b="0" u="none" strike="noStrike">
                <a:solidFill>
                  <a:srgbClr val="a2dd39"/>
                </a:solidFill>
                <a:effectLst/>
                <a:uFillTx/>
                <a:latin typeface="Pattanakarn Light"/>
                <a:ea typeface="Pattanakarn Light"/>
              </a:rPr>
              <a:t>BUILDING A CULTURE</a:t>
            </a:r>
            <a:endParaRPr lang="en-ZA" sz="9500" b="0" u="none" strike="noStrike">
              <a:solidFill>
                <a:srgbClr val="ffffff"/>
              </a:solidFill>
              <a:effectLst/>
              <a:uFillTx/>
              <a:latin typeface="Arial"/>
            </a:endParaRPr>
          </a:p>
        </p:txBody>
      </p:sp>
      <p:sp>
        <p:nvSpPr>
          <p:cNvPr id="231" name="TextBox 15"/>
          <p:cNvSpPr/>
          <p:nvPr/>
        </p:nvSpPr>
        <p:spPr>
          <a:xfrm>
            <a:off x="3285360" y="4940640"/>
            <a:ext cx="8891280" cy="489600"/>
          </a:xfrm>
          <a:prstGeom prst="rect">
            <a:avLst/>
          </a:prstGeom>
          <a:noFill/>
          <a:ln w="0">
            <a:noFill/>
          </a:ln>
        </p:spPr>
        <p:style>
          <a:lnRef idx="0"/>
          <a:fillRef idx="0"/>
          <a:effectRef idx="0"/>
          <a:fontRef idx="minor"/>
        </p:style>
        <p:txBody>
          <a:bodyPr lIns="0" rIns="0" tIns="0" bIns="0" anchor="t">
            <a:spAutoFit/>
          </a:bodyPr>
          <a:p>
            <a:pPr defTabSz="914400">
              <a:lnSpc>
                <a:spcPts val="3852"/>
              </a:lnSpc>
            </a:pPr>
            <a:r>
              <a:rPr lang="en-US" sz="4180" b="0" u="none" strike="noStrike">
                <a:solidFill>
                  <a:srgbClr val="d7e7c6"/>
                </a:solidFill>
                <a:effectLst/>
                <a:uFillTx/>
                <a:latin typeface="Pattanakarn Light"/>
                <a:ea typeface="Pattanakarn Light"/>
              </a:rPr>
              <a:t>OF CYBER AWARENESS</a:t>
            </a:r>
            <a:endParaRPr lang="en-ZA" sz="4180" b="0" u="none" strike="noStrike">
              <a:solidFill>
                <a:srgbClr val="ffffff"/>
              </a:solidFill>
              <a:effectLst/>
              <a:uFillTx/>
              <a:latin typeface="Arial"/>
            </a:endParaRPr>
          </a:p>
        </p:txBody>
      </p:sp>
      <p:sp>
        <p:nvSpPr>
          <p:cNvPr id="232" name="TextBox 16"/>
          <p:cNvSpPr/>
          <p:nvPr/>
        </p:nvSpPr>
        <p:spPr>
          <a:xfrm>
            <a:off x="1391400" y="1066680"/>
            <a:ext cx="1487520" cy="163440"/>
          </a:xfrm>
          <a:prstGeom prst="rect">
            <a:avLst/>
          </a:prstGeom>
          <a:noFill/>
          <a:ln w="0">
            <a:noFill/>
          </a:ln>
        </p:spPr>
        <p:style>
          <a:lnRef idx="0"/>
          <a:fillRef idx="0"/>
          <a:effectRef idx="0"/>
          <a:fontRef idx="minor"/>
        </p:style>
        <p:txBody>
          <a:bodyPr lIns="0" rIns="0" tIns="0" bIns="0" anchor="t">
            <a:spAutoFit/>
          </a:bodyPr>
          <a:p>
            <a:pPr defTabSz="914400">
              <a:lnSpc>
                <a:spcPts val="1287"/>
              </a:lnSpc>
            </a:pPr>
            <a:endParaRPr lang="en-ZA" sz="1800" b="0" u="none" strike="noStrike">
              <a:solidFill>
                <a:srgbClr val="ffffff"/>
              </a:solidFill>
              <a:effectLst/>
              <a:uFillTx/>
              <a:latin typeface="Arial"/>
            </a:endParaRPr>
          </a:p>
        </p:txBody>
      </p:sp>
      <p:sp>
        <p:nvSpPr>
          <p:cNvPr id="233" name="TextBox 17"/>
          <p:cNvSpPr/>
          <p:nvPr/>
        </p:nvSpPr>
        <p:spPr>
          <a:xfrm>
            <a:off x="15771240" y="1066680"/>
            <a:ext cx="1487520" cy="32652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234" name="TextBox 18"/>
          <p:cNvSpPr/>
          <p:nvPr/>
        </p:nvSpPr>
        <p:spPr>
          <a:xfrm>
            <a:off x="3285360" y="6620400"/>
            <a:ext cx="193932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Regular training and simulations</a:t>
            </a:r>
            <a:endParaRPr lang="en-ZA" sz="1400" b="0" u="none" strike="noStrike">
              <a:solidFill>
                <a:srgbClr val="ffffff"/>
              </a:solidFill>
              <a:effectLst/>
              <a:uFillTx/>
              <a:latin typeface="Arial"/>
            </a:endParaRPr>
          </a:p>
        </p:txBody>
      </p:sp>
      <p:sp>
        <p:nvSpPr>
          <p:cNvPr id="235" name="TextBox 19"/>
          <p:cNvSpPr/>
          <p:nvPr/>
        </p:nvSpPr>
        <p:spPr>
          <a:xfrm>
            <a:off x="3117600" y="7200000"/>
            <a:ext cx="2102040" cy="2561400"/>
          </a:xfrm>
          <a:prstGeom prst="rect">
            <a:avLst/>
          </a:prstGeom>
          <a:noFill/>
          <a:ln w="0">
            <a:noFill/>
          </a:ln>
        </p:spPr>
        <p:style>
          <a:lnRef idx="0"/>
          <a:fillRef idx="0"/>
          <a:effectRef idx="0"/>
          <a:fontRef idx="minor"/>
        </p:style>
        <p:txBody>
          <a:bodyPr lIns="0" rIns="0" tIns="0" bIns="0" anchor="t">
            <a:spAutoFit/>
          </a:bodyPr>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Ongoing training keeps employees alert to evolving threats</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Simulated phishing exercises build practical awareness</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Reinforces best practices through real‑world scenarios</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Helps identify areas where extra support is needed</a:t>
            </a:r>
            <a:endParaRPr lang="en-ZA" sz="1400" b="0" u="none" strike="noStrike">
              <a:solidFill>
                <a:srgbClr val="ffffff"/>
              </a:solidFill>
              <a:effectLst/>
              <a:uFillTx/>
              <a:latin typeface="Arial"/>
            </a:endParaRPr>
          </a:p>
        </p:txBody>
      </p:sp>
      <p:sp>
        <p:nvSpPr>
          <p:cNvPr id="236" name="TextBox 20"/>
          <p:cNvSpPr/>
          <p:nvPr/>
        </p:nvSpPr>
        <p:spPr>
          <a:xfrm>
            <a:off x="6301800" y="6620400"/>
            <a:ext cx="193932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Encouraging peer accountability</a:t>
            </a:r>
            <a:endParaRPr lang="en-ZA" sz="1400" b="0" u="none" strike="noStrike">
              <a:solidFill>
                <a:srgbClr val="ffffff"/>
              </a:solidFill>
              <a:effectLst/>
              <a:uFillTx/>
              <a:latin typeface="Arial"/>
            </a:endParaRPr>
          </a:p>
        </p:txBody>
      </p:sp>
      <p:sp>
        <p:nvSpPr>
          <p:cNvPr id="237" name="TextBox 21"/>
          <p:cNvSpPr/>
          <p:nvPr/>
        </p:nvSpPr>
        <p:spPr>
          <a:xfrm>
            <a:off x="6301800" y="7190280"/>
            <a:ext cx="2102040" cy="2561760"/>
          </a:xfrm>
          <a:prstGeom prst="rect">
            <a:avLst/>
          </a:prstGeom>
          <a:noFill/>
          <a:ln w="0">
            <a:noFill/>
          </a:ln>
        </p:spPr>
        <p:style>
          <a:lnRef idx="0"/>
          <a:fillRef idx="0"/>
          <a:effectRef idx="0"/>
          <a:fontRef idx="minor"/>
        </p:style>
        <p:txBody>
          <a:bodyPr lIns="0" rIns="0" tIns="0" bIns="0" anchor="t">
            <a:spAutoFit/>
          </a:bodyPr>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Every individual plays a role in cybersecurity</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Report suspicious activity promptly and responsibly</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Follow organizational policies and security guidelines</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Understand that personal vigilance protects the whole team</a:t>
            </a:r>
            <a:endParaRPr lang="en-ZA" sz="1400" b="0" u="none" strike="noStrike">
              <a:solidFill>
                <a:srgbClr val="ffffff"/>
              </a:solidFill>
              <a:effectLst/>
              <a:uFillTx/>
              <a:latin typeface="Arial"/>
            </a:endParaRPr>
          </a:p>
        </p:txBody>
      </p:sp>
      <p:sp>
        <p:nvSpPr>
          <p:cNvPr id="238" name="TextBox 22"/>
          <p:cNvSpPr/>
          <p:nvPr/>
        </p:nvSpPr>
        <p:spPr>
          <a:xfrm>
            <a:off x="9318240" y="6620400"/>
            <a:ext cx="2102040" cy="41832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Cybersecurity as part of daily workflow</a:t>
            </a:r>
            <a:endParaRPr lang="en-ZA" sz="1400" b="0" u="none" strike="noStrike">
              <a:solidFill>
                <a:srgbClr val="ffffff"/>
              </a:solidFill>
              <a:effectLst/>
              <a:uFillTx/>
              <a:latin typeface="Arial"/>
            </a:endParaRPr>
          </a:p>
        </p:txBody>
      </p:sp>
      <p:sp>
        <p:nvSpPr>
          <p:cNvPr id="239" name="TextBox 23"/>
          <p:cNvSpPr/>
          <p:nvPr/>
        </p:nvSpPr>
        <p:spPr>
          <a:xfrm>
            <a:off x="9318240" y="7190280"/>
            <a:ext cx="2102040" cy="2775240"/>
          </a:xfrm>
          <a:prstGeom prst="rect">
            <a:avLst/>
          </a:prstGeom>
          <a:noFill/>
          <a:ln w="0">
            <a:noFill/>
          </a:ln>
        </p:spPr>
        <p:style>
          <a:lnRef idx="0"/>
          <a:fillRef idx="0"/>
          <a:effectRef idx="0"/>
          <a:fontRef idx="minor"/>
        </p:style>
        <p:txBody>
          <a:bodyPr lIns="0" rIns="0" tIns="0" bIns="0" anchor="t">
            <a:spAutoFit/>
          </a:bodyPr>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Treat security as a routine part of work, not an extra task</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Use strong passwords, MFA, and secure networks consistently</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Verify links, attachments, and sources before engaging</a:t>
            </a:r>
            <a:endParaRPr lang="en-ZA" sz="1400" b="0" u="none" strike="noStrike">
              <a:solidFill>
                <a:srgbClr val="ffffff"/>
              </a:solidFill>
              <a:effectLst/>
              <a:uFillTx/>
              <a:latin typeface="Arial"/>
            </a:endParaRPr>
          </a:p>
          <a:p>
            <a:pPr marL="216000" indent="-216000" defTabSz="914400">
              <a:lnSpc>
                <a:spcPts val="1681"/>
              </a:lnSpc>
              <a:buClr>
                <a:srgbClr val="d7e7c6"/>
              </a:buClr>
              <a:buFont typeface="Symbol" charset="2"/>
              <a:buChar char=""/>
            </a:pPr>
            <a:r>
              <a:rPr lang="en-US" sz="1400" b="0" u="none" strike="noStrike">
                <a:solidFill>
                  <a:srgbClr val="d7e7c6"/>
                </a:solidFill>
                <a:effectLst/>
                <a:uFillTx/>
                <a:latin typeface="Pattanakarn Light"/>
                <a:ea typeface="Pattanakarn Light"/>
              </a:rPr>
              <a:t>Make safe online behavior a daily habit across all tasks</a:t>
            </a:r>
            <a:endParaRPr lang="en-ZA"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73" dur="indefinite" restart="never" nodeType="tmRoot">
          <p:childTnLst>
            <p:seq>
              <p:cTn id="74" dur="indefinite" nodeType="mainSeq">
                <p:childTnLst>
                  <p:par>
                    <p:cTn id="75" fill="hold">
                      <p:stCondLst>
                        <p:cond delay="0"/>
                      </p:stCondLst>
                      <p:childTnLst>
                        <p:par>
                          <p:cTn id="76" fill="hold">
                            <p:stCondLst>
                              <p:cond delay="0"/>
                            </p:stCondLst>
                            <p:childTnLst>
                              <p:par>
                                <p:cTn id="77" presetID="40" presetClass="entr" fill="hold" nodeType="afterEffect">
                                  <p:stCondLst>
                                    <p:cond delay="0"/>
                                  </p:stCondLst>
                                  <p:childTnLst>
                                    <p:set>
                                      <p:cBhvr>
                                        <p:cTn id="78" dur="1" fill="hold">
                                          <p:stCondLst>
                                            <p:cond delay="0"/>
                                          </p:stCondLst>
                                        </p:cTn>
                                        <p:tgtEl>
                                          <p:spTgt spid="230"/>
                                        </p:tgtEl>
                                        <p:attrNameLst>
                                          <p:attrName>style.visibility</p:attrName>
                                        </p:attrNameLst>
                                      </p:cBhvr>
                                      <p:to>
                                        <p:strVal val="visible"/>
                                      </p:to>
                                    </p:set>
                                    <p:animEffect filter="fade" transition="in">
                                      <p:cBhvr additive="repl">
                                        <p:cTn id="79" dur="1000"/>
                                        <p:tgtEl>
                                          <p:spTgt spid="230"/>
                                        </p:tgtEl>
                                      </p:cBhvr>
                                    </p:animEffect>
                                    <p:anim calcmode="lin" valueType="num">
                                      <p:cBhvr additive="repl">
                                        <p:cTn id="80" dur="1000" fill="hold"/>
                                        <p:tgtEl>
                                          <p:spTgt spid="230"/>
                                        </p:tgtEl>
                                        <p:attrNameLst>
                                          <p:attrName>ppt_x</p:attrName>
                                        </p:attrNameLst>
                                      </p:cBhvr>
                                      <p:tavLst>
                                        <p:tav>
                                          <p:val>
                                            <p:strVal val="#ppt_x-.1"/>
                                          </p:val>
                                        </p:tav>
                                        <p:tav tm="100000">
                                          <p:val>
                                            <p:strVal val="#ppt_x"/>
                                          </p:val>
                                        </p:tav>
                                      </p:tavLst>
                                    </p:anim>
                                    <p:anim calcmode="lin" valueType="num">
                                      <p:cBhvr additive="repl">
                                        <p:cTn id="81" dur="1000" fill="hold"/>
                                        <p:tgtEl>
                                          <p:spTgt spid="230"/>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40" name="Freeform 2"/>
          <p:cNvSpPr/>
          <p:nvPr/>
        </p:nvSpPr>
        <p:spPr>
          <a:xfrm>
            <a:off x="1028880" y="1028880"/>
            <a:ext cx="228960" cy="197640"/>
          </a:xfrm>
          <a:custGeom>
            <a:avLst/>
            <a:gdLst>
              <a:gd name="textAreaLeft" fmla="*/ 0 w 228960"/>
              <a:gd name="textAreaRight" fmla="*/ 229680 w 228960"/>
              <a:gd name="textAreaTop" fmla="*/ 0 h 197640"/>
              <a:gd name="textAreaBottom" fmla="*/ 198360 h 197640"/>
            </a:gdLst>
            <a:ahLst/>
            <a:cxnLst/>
            <a:rect l="textAreaLeft" t="textAreaTop" r="textAreaRight" b="textAreaBottom"/>
            <a:pathLst>
              <a:path w="229684" h="198363">
                <a:moveTo>
                  <a:pt x="0" y="0"/>
                </a:moveTo>
                <a:lnTo>
                  <a:pt x="229684" y="0"/>
                </a:lnTo>
                <a:lnTo>
                  <a:pt x="229684" y="198363"/>
                </a:lnTo>
                <a:lnTo>
                  <a:pt x="0" y="198363"/>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241" name="Freeform 3"/>
          <p:cNvSpPr/>
          <p:nvPr/>
        </p:nvSpPr>
        <p:spPr>
          <a:xfrm>
            <a:off x="0" y="7408080"/>
            <a:ext cx="5459400" cy="2878200"/>
          </a:xfrm>
          <a:custGeom>
            <a:avLst/>
            <a:gdLst>
              <a:gd name="textAreaLeft" fmla="*/ 0 w 5459400"/>
              <a:gd name="textAreaRight" fmla="*/ 5460120 w 5459400"/>
              <a:gd name="textAreaTop" fmla="*/ 0 h 2878200"/>
              <a:gd name="textAreaBottom" fmla="*/ 2878920 h 2878200"/>
            </a:gdLst>
            <a:ahLst/>
            <a:cxnLst/>
            <a:rect l="textAreaLeft" t="textAreaTop" r="textAreaRight" b="textAreaBottom"/>
            <a:pathLst>
              <a:path w="5460080" h="2878951">
                <a:moveTo>
                  <a:pt x="0" y="0"/>
                </a:moveTo>
                <a:lnTo>
                  <a:pt x="5460080" y="0"/>
                </a:lnTo>
                <a:lnTo>
                  <a:pt x="5460080" y="2878951"/>
                </a:lnTo>
                <a:lnTo>
                  <a:pt x="0" y="2878951"/>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sp>
        <p:nvSpPr>
          <p:cNvPr id="242" name="Freeform 4"/>
          <p:cNvSpPr/>
          <p:nvPr/>
        </p:nvSpPr>
        <p:spPr>
          <a:xfrm flipH="1">
            <a:off x="12827160" y="7408080"/>
            <a:ext cx="5459400" cy="2878200"/>
          </a:xfrm>
          <a:custGeom>
            <a:avLst/>
            <a:gdLst>
              <a:gd name="textAreaLeft" fmla="*/ 360 w 5459400"/>
              <a:gd name="textAreaRight" fmla="*/ 5460480 w 5459400"/>
              <a:gd name="textAreaTop" fmla="*/ 0 h 2878200"/>
              <a:gd name="textAreaBottom" fmla="*/ 2878920 h 2878200"/>
            </a:gdLst>
            <a:ahLst/>
            <a:cxnLst/>
            <a:rect l="textAreaLeft" t="textAreaTop" r="textAreaRight" b="textAreaBottom"/>
            <a:pathLst>
              <a:path w="5460080" h="2878951">
                <a:moveTo>
                  <a:pt x="5460080" y="0"/>
                </a:moveTo>
                <a:lnTo>
                  <a:pt x="0" y="0"/>
                </a:lnTo>
                <a:lnTo>
                  <a:pt x="0" y="2878951"/>
                </a:lnTo>
                <a:lnTo>
                  <a:pt x="5460080" y="2878951"/>
                </a:lnTo>
                <a:lnTo>
                  <a:pt x="546008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nvGrpSpPr>
          <p:cNvPr id="243" name="Group 5"/>
          <p:cNvGrpSpPr/>
          <p:nvPr/>
        </p:nvGrpSpPr>
        <p:grpSpPr>
          <a:xfrm>
            <a:off x="5460120" y="4808160"/>
            <a:ext cx="7367040" cy="5987160"/>
            <a:chOff x="5460120" y="4808160"/>
            <a:chExt cx="7367040" cy="5987160"/>
          </a:xfrm>
        </p:grpSpPr>
        <p:sp>
          <p:nvSpPr>
            <p:cNvPr id="244" name="Freeform 6"/>
            <p:cNvSpPr/>
            <p:nvPr/>
          </p:nvSpPr>
          <p:spPr>
            <a:xfrm>
              <a:off x="5460120" y="4952880"/>
              <a:ext cx="7367040" cy="5842440"/>
            </a:xfrm>
            <a:custGeom>
              <a:avLst/>
              <a:gdLst>
                <a:gd name="textAreaLeft" fmla="*/ 0 w 7367040"/>
                <a:gd name="textAreaRight" fmla="*/ 7367760 w 7367040"/>
                <a:gd name="textAreaTop" fmla="*/ 0 h 5842440"/>
                <a:gd name="textAreaBottom" fmla="*/ 5843160 h 5842440"/>
              </a:gdLst>
              <a:ahLst/>
              <a:cxnLst/>
              <a:rect l="textAreaLeft" t="textAreaTop" r="textAreaRight" b="textAreaBottom"/>
              <a:pathLst>
                <a:path w="1940501" h="1538937">
                  <a:moveTo>
                    <a:pt x="10508" y="0"/>
                  </a:moveTo>
                  <a:lnTo>
                    <a:pt x="1929993" y="0"/>
                  </a:lnTo>
                  <a:cubicBezTo>
                    <a:pt x="1935797" y="0"/>
                    <a:pt x="1940501" y="4704"/>
                    <a:pt x="1940501" y="10508"/>
                  </a:cubicBezTo>
                  <a:lnTo>
                    <a:pt x="1940501" y="1528429"/>
                  </a:lnTo>
                  <a:cubicBezTo>
                    <a:pt x="1940501" y="1534232"/>
                    <a:pt x="1935797" y="1538937"/>
                    <a:pt x="1929993" y="1538937"/>
                  </a:cubicBezTo>
                  <a:lnTo>
                    <a:pt x="10508" y="1538937"/>
                  </a:lnTo>
                  <a:cubicBezTo>
                    <a:pt x="4704" y="1538937"/>
                    <a:pt x="0" y="1534232"/>
                    <a:pt x="0" y="1528429"/>
                  </a:cubicBezTo>
                  <a:lnTo>
                    <a:pt x="0" y="10508"/>
                  </a:lnTo>
                  <a:cubicBezTo>
                    <a:pt x="0" y="4704"/>
                    <a:pt x="4704" y="0"/>
                    <a:pt x="10508" y="0"/>
                  </a:cubicBezTo>
                  <a:close/>
                </a:path>
              </a:pathLst>
            </a:custGeom>
            <a:solidFill>
              <a:srgbClr val="141414"/>
            </a:solidFill>
            <a:ln cap="sq" w="9525">
              <a:solidFill>
                <a:srgbClr val="a2dd39"/>
              </a:solidFill>
              <a:miter/>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ffffff"/>
                </a:solidFill>
                <a:effectLst/>
                <a:uFillTx/>
                <a:latin typeface="Arial"/>
              </a:endParaRPr>
            </a:p>
          </p:txBody>
        </p:sp>
        <p:sp>
          <p:nvSpPr>
            <p:cNvPr id="245" name="TextBox 7"/>
            <p:cNvSpPr/>
            <p:nvPr/>
          </p:nvSpPr>
          <p:spPr>
            <a:xfrm>
              <a:off x="5460120" y="4808160"/>
              <a:ext cx="7367040" cy="5987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lang="en-US" sz="1800" b="0" u="none" strike="noStrike">
                <a:solidFill>
                  <a:schemeClr val="dk1"/>
                </a:solidFill>
                <a:effectLst/>
                <a:uFillTx/>
                <a:latin typeface="Calibri"/>
              </a:endParaRPr>
            </a:p>
          </p:txBody>
        </p:sp>
      </p:grpSp>
      <p:grpSp>
        <p:nvGrpSpPr>
          <p:cNvPr id="246" name="Group 8"/>
          <p:cNvGrpSpPr/>
          <p:nvPr/>
        </p:nvGrpSpPr>
        <p:grpSpPr>
          <a:xfrm>
            <a:off x="6382080" y="4968000"/>
            <a:ext cx="5523120" cy="3569400"/>
            <a:chOff x="6382080" y="4968000"/>
            <a:chExt cx="5523120" cy="3569400"/>
          </a:xfrm>
        </p:grpSpPr>
        <p:sp>
          <p:nvSpPr>
            <p:cNvPr id="247" name="Freeform 9"/>
            <p:cNvSpPr/>
            <p:nvPr/>
          </p:nvSpPr>
          <p:spPr>
            <a:xfrm>
              <a:off x="6382080" y="4968000"/>
              <a:ext cx="5523120" cy="3569400"/>
            </a:xfrm>
            <a:custGeom>
              <a:avLst/>
              <a:gdLst>
                <a:gd name="textAreaLeft" fmla="*/ 0 w 5523120"/>
                <a:gd name="textAreaRight" fmla="*/ 5523840 w 5523120"/>
                <a:gd name="textAreaTop" fmla="*/ 0 h 3569400"/>
                <a:gd name="textAreaBottom" fmla="*/ 3570120 h 3569400"/>
              </a:gdLst>
              <a:ahLst/>
              <a:cxnLst/>
              <a:rect l="textAreaLeft" t="textAreaTop" r="textAreaRight" b="textAreaBottom"/>
              <a:pathLst>
                <a:path w="855813" h="553087">
                  <a:moveTo>
                    <a:pt x="0" y="0"/>
                  </a:moveTo>
                  <a:lnTo>
                    <a:pt x="855813" y="0"/>
                  </a:lnTo>
                  <a:lnTo>
                    <a:pt x="855813" y="553087"/>
                  </a:lnTo>
                  <a:lnTo>
                    <a:pt x="0" y="553087"/>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pPr>
                <a:lnSpc>
                  <a:spcPct val="100000"/>
                </a:lnSpc>
              </a:pPr>
              <a:endParaRPr lang="en-ZA" sz="1800" b="0" u="none" strike="noStrike">
                <a:solidFill>
                  <a:srgbClr val="000000"/>
                </a:solidFill>
                <a:effectLst/>
                <a:uFillTx/>
                <a:latin typeface="Arial"/>
              </a:endParaRPr>
            </a:p>
          </p:txBody>
        </p:sp>
      </p:grpSp>
      <p:sp>
        <p:nvSpPr>
          <p:cNvPr id="248" name="Freeform 10"/>
          <p:cNvSpPr/>
          <p:nvPr/>
        </p:nvSpPr>
        <p:spPr>
          <a:xfrm>
            <a:off x="6382080" y="915336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249" name="Freeform 11"/>
          <p:cNvSpPr/>
          <p:nvPr/>
        </p:nvSpPr>
        <p:spPr>
          <a:xfrm>
            <a:off x="11589840" y="9153360"/>
            <a:ext cx="315360" cy="78480"/>
          </a:xfrm>
          <a:custGeom>
            <a:avLst/>
            <a:gdLst>
              <a:gd name="textAreaLeft" fmla="*/ 0 w 315360"/>
              <a:gd name="textAreaRight" fmla="*/ 316080 w 315360"/>
              <a:gd name="textAreaTop" fmla="*/ 0 h 78480"/>
              <a:gd name="textAreaBottom" fmla="*/ 79200 h 78480"/>
            </a:gdLst>
            <a:ahLst/>
            <a:cxnLst/>
            <a:rect l="textAreaLeft" t="textAreaTop" r="textAreaRight" b="textAreaBottom"/>
            <a:pathLst>
              <a:path w="316219" h="79055">
                <a:moveTo>
                  <a:pt x="0" y="0"/>
                </a:moveTo>
                <a:lnTo>
                  <a:pt x="316219" y="0"/>
                </a:lnTo>
                <a:lnTo>
                  <a:pt x="316219" y="79055"/>
                </a:lnTo>
                <a:lnTo>
                  <a:pt x="0" y="79055"/>
                </a:lnTo>
                <a:lnTo>
                  <a:pt x="0" y="0"/>
                </a:lnTo>
                <a:close/>
              </a:path>
            </a:pathLst>
          </a:custGeom>
          <a:blipFill rotWithShape="0">
            <a:blip r:embed="rId10">
              <a:extLst>
                <a:ext uri="{96DAC541-7B7A-43D3-8B79-37D633B846F1}">
                  <asvg:svgBlip xmlns:asvg="http://schemas.microsoft.com/office/drawing/2016/SVG/main" r:embed="rId11"/>
                </a:ext>
              </a:extLst>
            </a:blip>
            <a:srcRect/>
            <a:stretch/>
          </a:blipFill>
          <a:ln w="0">
            <a:noFill/>
          </a:ln>
        </p:spPr>
        <p:style>
          <a:lnRef idx="0"/>
          <a:fillRef idx="0"/>
          <a:effectRef idx="0"/>
          <a:fontRef idx="minor"/>
        </p:style>
        <p:txBody>
          <a:bodyPr lIns="90000" rIns="90000" tIns="34200" bIns="34200" anchor="t">
            <a:noAutofit/>
          </a:bodyPr>
          <a:p>
            <a:pPr>
              <a:lnSpc>
                <a:spcPct val="100000"/>
              </a:lnSpc>
            </a:pPr>
            <a:endParaRPr lang="en-ZA" sz="1800" b="0" u="none" strike="noStrike">
              <a:solidFill>
                <a:srgbClr val="000000"/>
              </a:solidFill>
              <a:effectLst/>
              <a:uFillTx/>
              <a:latin typeface="Arial"/>
            </a:endParaRPr>
          </a:p>
        </p:txBody>
      </p:sp>
      <p:sp>
        <p:nvSpPr>
          <p:cNvPr id="250" name="TextBox 12"/>
          <p:cNvSpPr/>
          <p:nvPr/>
        </p:nvSpPr>
        <p:spPr>
          <a:xfrm>
            <a:off x="2670120" y="2396160"/>
            <a:ext cx="12947040" cy="1193400"/>
          </a:xfrm>
          <a:prstGeom prst="rect">
            <a:avLst/>
          </a:prstGeom>
          <a:noFill/>
          <a:ln w="0">
            <a:noFill/>
          </a:ln>
        </p:spPr>
        <p:style>
          <a:lnRef idx="0"/>
          <a:fillRef idx="0"/>
          <a:effectRef idx="0"/>
          <a:fontRef idx="minor"/>
        </p:style>
        <p:txBody>
          <a:bodyPr lIns="0" rIns="0" tIns="0" bIns="0" anchor="t">
            <a:spAutoFit/>
          </a:bodyPr>
          <a:p>
            <a:pPr algn="ctr" defTabSz="914400">
              <a:lnSpc>
                <a:spcPts val="8739"/>
              </a:lnSpc>
            </a:pPr>
            <a:r>
              <a:rPr lang="en-US" sz="9500" b="0" u="none" strike="noStrike">
                <a:solidFill>
                  <a:srgbClr val="a2dd39"/>
                </a:solidFill>
                <a:effectLst/>
                <a:uFillTx/>
                <a:latin typeface="Pattanakarn Light"/>
                <a:ea typeface="Pattanakarn Light"/>
              </a:rPr>
              <a:t>FINAL THOUGHTS</a:t>
            </a:r>
            <a:endParaRPr lang="en-ZA" sz="9500" b="0" u="none" strike="noStrike">
              <a:solidFill>
                <a:srgbClr val="ffffff"/>
              </a:solidFill>
              <a:effectLst/>
              <a:uFillTx/>
              <a:latin typeface="Arial"/>
            </a:endParaRPr>
          </a:p>
        </p:txBody>
      </p:sp>
      <p:sp>
        <p:nvSpPr>
          <p:cNvPr id="251" name="TextBox 13"/>
          <p:cNvSpPr/>
          <p:nvPr/>
        </p:nvSpPr>
        <p:spPr>
          <a:xfrm>
            <a:off x="5460120" y="3576600"/>
            <a:ext cx="7367040" cy="430560"/>
          </a:xfrm>
          <a:prstGeom prst="rect">
            <a:avLst/>
          </a:prstGeom>
          <a:noFill/>
          <a:ln w="0">
            <a:noFill/>
          </a:ln>
        </p:spPr>
        <p:style>
          <a:lnRef idx="0"/>
          <a:fillRef idx="0"/>
          <a:effectRef idx="0"/>
          <a:fontRef idx="minor"/>
        </p:style>
        <p:txBody>
          <a:bodyPr lIns="0" rIns="0" tIns="0" bIns="0" anchor="t">
            <a:spAutoFit/>
          </a:bodyPr>
          <a:p>
            <a:pPr algn="ctr" defTabSz="914400">
              <a:lnSpc>
                <a:spcPts val="3192"/>
              </a:lnSpc>
            </a:pPr>
            <a:r>
              <a:rPr lang="en-US" sz="3470" b="0" u="none" strike="noStrike">
                <a:solidFill>
                  <a:srgbClr val="d7e7c6"/>
                </a:solidFill>
                <a:effectLst/>
                <a:uFillTx/>
                <a:latin typeface="Pattanakarn Light"/>
                <a:ea typeface="Pattanakarn Light"/>
              </a:rPr>
              <a:t>&amp; CALL TO ACTION</a:t>
            </a:r>
            <a:endParaRPr lang="en-ZA" sz="3470" b="0" u="none" strike="noStrike">
              <a:solidFill>
                <a:srgbClr val="ffffff"/>
              </a:solidFill>
              <a:effectLst/>
              <a:uFillTx/>
              <a:latin typeface="Arial"/>
            </a:endParaRPr>
          </a:p>
        </p:txBody>
      </p:sp>
      <p:sp>
        <p:nvSpPr>
          <p:cNvPr id="252" name="TextBox 14"/>
          <p:cNvSpPr/>
          <p:nvPr/>
        </p:nvSpPr>
        <p:spPr>
          <a:xfrm>
            <a:off x="1391400" y="1066680"/>
            <a:ext cx="1487520" cy="163440"/>
          </a:xfrm>
          <a:prstGeom prst="rect">
            <a:avLst/>
          </a:prstGeom>
          <a:noFill/>
          <a:ln w="0">
            <a:noFill/>
          </a:ln>
        </p:spPr>
        <p:style>
          <a:lnRef idx="0"/>
          <a:fillRef idx="0"/>
          <a:effectRef idx="0"/>
          <a:fontRef idx="minor"/>
        </p:style>
        <p:txBody>
          <a:bodyPr lIns="0" rIns="0" tIns="0" bIns="0" anchor="t">
            <a:spAutoFit/>
          </a:bodyPr>
          <a:p>
            <a:pPr defTabSz="914400">
              <a:lnSpc>
                <a:spcPts val="1287"/>
              </a:lnSpc>
            </a:pPr>
            <a:endParaRPr lang="en-ZA" sz="1800" b="0" u="none" strike="noStrike">
              <a:solidFill>
                <a:srgbClr val="ffffff"/>
              </a:solidFill>
              <a:effectLst/>
              <a:uFillTx/>
              <a:latin typeface="Arial"/>
            </a:endParaRPr>
          </a:p>
        </p:txBody>
      </p:sp>
      <p:sp>
        <p:nvSpPr>
          <p:cNvPr id="253" name="TextBox 15"/>
          <p:cNvSpPr/>
          <p:nvPr/>
        </p:nvSpPr>
        <p:spPr>
          <a:xfrm>
            <a:off x="15771240" y="1066680"/>
            <a:ext cx="1487520" cy="326520"/>
          </a:xfrm>
          <a:prstGeom prst="rect">
            <a:avLst/>
          </a:prstGeom>
          <a:noFill/>
          <a:ln w="0">
            <a:noFill/>
          </a:ln>
        </p:spPr>
        <p:style>
          <a:lnRef idx="0"/>
          <a:fillRef idx="0"/>
          <a:effectRef idx="0"/>
          <a:fontRef idx="minor"/>
        </p:style>
        <p:txBody>
          <a:bodyPr lIns="0" rIns="0" tIns="0" bIns="0" anchor="t">
            <a:spAutoFit/>
          </a:bodyPr>
          <a:p>
            <a:pPr algn="r" defTabSz="914400">
              <a:lnSpc>
                <a:spcPts val="1287"/>
              </a:lnSpc>
            </a:pPr>
            <a:r>
              <a:rPr lang="en-US" sz="1400" b="0" u="none" strike="noStrike">
                <a:solidFill>
                  <a:srgbClr val="d7e7c6"/>
                </a:solidFill>
                <a:effectLst/>
                <a:uFillTx/>
                <a:latin typeface="Pattanakarn Light"/>
                <a:ea typeface="Pattanakarn Light"/>
              </a:rPr>
              <a:t>01.15.2026</a:t>
            </a:r>
            <a:endParaRPr lang="en-ZA" sz="1400" b="0" u="none" strike="noStrike">
              <a:solidFill>
                <a:srgbClr val="ffffff"/>
              </a:solidFill>
              <a:effectLst/>
              <a:uFillTx/>
              <a:latin typeface="Arial"/>
            </a:endParaRPr>
          </a:p>
          <a:p>
            <a:pPr algn="r" defTabSz="914400">
              <a:lnSpc>
                <a:spcPts val="1287"/>
              </a:lnSpc>
            </a:pPr>
            <a:endParaRPr lang="en-ZA" sz="1800" b="0" u="none" strike="noStrike">
              <a:solidFill>
                <a:srgbClr val="ffffff"/>
              </a:solidFill>
              <a:effectLst/>
              <a:uFillTx/>
              <a:latin typeface="Arial"/>
            </a:endParaRPr>
          </a:p>
        </p:txBody>
      </p:sp>
      <p:sp>
        <p:nvSpPr>
          <p:cNvPr id="254" name="TextBox 16"/>
          <p:cNvSpPr/>
          <p:nvPr/>
        </p:nvSpPr>
        <p:spPr>
          <a:xfrm>
            <a:off x="1028880" y="4114800"/>
            <a:ext cx="1128240" cy="208800"/>
          </a:xfrm>
          <a:prstGeom prst="rect">
            <a:avLst/>
          </a:prstGeom>
          <a:noFill/>
          <a:ln w="0">
            <a:noFill/>
          </a:ln>
        </p:spPr>
        <p:style>
          <a:lnRef idx="0"/>
          <a:fillRef idx="0"/>
          <a:effectRef idx="0"/>
          <a:fontRef idx="minor"/>
        </p:style>
        <p:txBody>
          <a:bodyPr lIns="0" rIns="0" tIns="0" bIns="0" anchor="t">
            <a:spAutoFit/>
          </a:bodyPr>
          <a:p>
            <a:pPr defTabSz="914400">
              <a:lnSpc>
                <a:spcPts val="1681"/>
              </a:lnSpc>
            </a:pPr>
            <a:r>
              <a:rPr lang="en-US" sz="1400" b="1" u="none" strike="noStrike">
                <a:solidFill>
                  <a:srgbClr val="a2dd39"/>
                </a:solidFill>
                <a:effectLst/>
                <a:uFillTx/>
                <a:latin typeface="Pattanakarn Bold"/>
                <a:ea typeface="Pattanakarn Bold"/>
              </a:rPr>
              <a:t>Recap</a:t>
            </a:r>
            <a:endParaRPr lang="en-ZA" sz="1400" b="0" u="none" strike="noStrike">
              <a:solidFill>
                <a:srgbClr val="ffffff"/>
              </a:solidFill>
              <a:effectLst/>
              <a:uFillTx/>
              <a:latin typeface="Arial"/>
            </a:endParaRPr>
          </a:p>
        </p:txBody>
      </p:sp>
      <p:sp>
        <p:nvSpPr>
          <p:cNvPr id="255" name="TextBox 17"/>
          <p:cNvSpPr/>
          <p:nvPr/>
        </p:nvSpPr>
        <p:spPr>
          <a:xfrm>
            <a:off x="1028880" y="4419720"/>
            <a:ext cx="2203200" cy="532800"/>
          </a:xfrm>
          <a:prstGeom prst="rect">
            <a:avLst/>
          </a:prstGeom>
          <a:noFill/>
          <a:ln w="0">
            <a:noFill/>
          </a:ln>
        </p:spPr>
        <p:style>
          <a:lnRef idx="0"/>
          <a:fillRef idx="0"/>
          <a:effectRef idx="0"/>
          <a:fontRef idx="minor"/>
        </p:style>
        <p:txBody>
          <a:bodyPr lIns="0" rIns="0" tIns="0" bIns="0" anchor="t">
            <a:spAutoFit/>
          </a:bodyPr>
          <a:p>
            <a:pPr defTabSz="914400">
              <a:lnSpc>
                <a:spcPts val="2160"/>
              </a:lnSpc>
            </a:pPr>
            <a:r>
              <a:rPr lang="en-US" sz="1800" b="0" u="none" strike="noStrike">
                <a:solidFill>
                  <a:srgbClr val="d7e7c6"/>
                </a:solidFill>
                <a:effectLst/>
                <a:uFillTx/>
                <a:latin typeface="Pattanakarn Light"/>
                <a:ea typeface="Pattanakarn Light"/>
              </a:rPr>
              <a:t>You are the human firewall</a:t>
            </a:r>
            <a:endParaRPr lang="en-ZA" sz="1800" b="0" u="none" strike="noStrike">
              <a:solidFill>
                <a:srgbClr val="ffffff"/>
              </a:solidFill>
              <a:effectLst/>
              <a:uFillTx/>
              <a:latin typeface="Arial"/>
            </a:endParaRPr>
          </a:p>
        </p:txBody>
      </p:sp>
      <p:sp>
        <p:nvSpPr>
          <p:cNvPr id="256" name="TextBox 18"/>
          <p:cNvSpPr/>
          <p:nvPr/>
        </p:nvSpPr>
        <p:spPr>
          <a:xfrm>
            <a:off x="2135520" y="6008400"/>
            <a:ext cx="2203200" cy="799200"/>
          </a:xfrm>
          <a:prstGeom prst="rect">
            <a:avLst/>
          </a:prstGeom>
          <a:noFill/>
          <a:ln w="0">
            <a:noFill/>
          </a:ln>
        </p:spPr>
        <p:style>
          <a:lnRef idx="0"/>
          <a:fillRef idx="0"/>
          <a:effectRef idx="0"/>
          <a:fontRef idx="minor"/>
        </p:style>
        <p:txBody>
          <a:bodyPr lIns="0" rIns="0" tIns="0" bIns="0" anchor="t">
            <a:spAutoFit/>
          </a:bodyPr>
          <a:p>
            <a:pPr defTabSz="914400">
              <a:lnSpc>
                <a:spcPts val="2160"/>
              </a:lnSpc>
            </a:pPr>
            <a:r>
              <a:rPr lang="en-US" sz="1800" b="0" u="none" strike="noStrike">
                <a:solidFill>
                  <a:srgbClr val="d7e7c6"/>
                </a:solidFill>
                <a:effectLst/>
                <a:uFillTx/>
                <a:latin typeface="Pattanakarn Light"/>
                <a:ea typeface="Pattanakarn Light"/>
              </a:rPr>
              <a:t>One small mistake can lead to a big breach</a:t>
            </a:r>
            <a:endParaRPr lang="en-ZA" sz="1800" b="0" u="none" strike="noStrike">
              <a:solidFill>
                <a:srgbClr val="ffffff"/>
              </a:solidFill>
              <a:effectLst/>
              <a:uFillTx/>
              <a:latin typeface="Arial"/>
            </a:endParaRPr>
          </a:p>
        </p:txBody>
      </p:sp>
      <p:sp>
        <p:nvSpPr>
          <p:cNvPr id="257" name="TextBox 19"/>
          <p:cNvSpPr/>
          <p:nvPr/>
        </p:nvSpPr>
        <p:spPr>
          <a:xfrm>
            <a:off x="13851000" y="4366080"/>
            <a:ext cx="3407400" cy="332640"/>
          </a:xfrm>
          <a:prstGeom prst="rect">
            <a:avLst/>
          </a:prstGeom>
          <a:noFill/>
          <a:ln w="0">
            <a:noFill/>
          </a:ln>
        </p:spPr>
        <p:style>
          <a:lnRef idx="0"/>
          <a:fillRef idx="0"/>
          <a:effectRef idx="0"/>
          <a:fontRef idx="minor"/>
        </p:style>
        <p:txBody>
          <a:bodyPr lIns="0" rIns="0" tIns="0" bIns="0" anchor="t">
            <a:spAutoFit/>
          </a:bodyPr>
          <a:p>
            <a:pPr algn="r" defTabSz="914400">
              <a:lnSpc>
                <a:spcPts val="2639"/>
              </a:lnSpc>
            </a:pPr>
            <a:r>
              <a:rPr lang="en-US" sz="2200" b="1" u="none" strike="noStrike">
                <a:solidFill>
                  <a:srgbClr val="a2dd39"/>
                </a:solidFill>
                <a:effectLst/>
                <a:uFillTx/>
                <a:latin typeface="Pattanakarn Bold"/>
                <a:ea typeface="Pattanakarn Bold"/>
              </a:rPr>
              <a:t>Take action today</a:t>
            </a:r>
            <a:endParaRPr lang="en-ZA" sz="2200" b="0" u="none" strike="noStrike">
              <a:solidFill>
                <a:srgbClr val="ffffff"/>
              </a:solidFill>
              <a:effectLst/>
              <a:uFillTx/>
              <a:latin typeface="Arial"/>
            </a:endParaRPr>
          </a:p>
        </p:txBody>
      </p:sp>
      <p:sp>
        <p:nvSpPr>
          <p:cNvPr id="258" name="TextBox 20"/>
          <p:cNvSpPr/>
          <p:nvPr/>
        </p:nvSpPr>
        <p:spPr>
          <a:xfrm>
            <a:off x="14374800" y="4835880"/>
            <a:ext cx="2883960" cy="532800"/>
          </a:xfrm>
          <a:prstGeom prst="rect">
            <a:avLst/>
          </a:prstGeom>
          <a:noFill/>
          <a:ln w="0">
            <a:noFill/>
          </a:ln>
        </p:spPr>
        <p:style>
          <a:lnRef idx="0"/>
          <a:fillRef idx="0"/>
          <a:effectRef idx="0"/>
          <a:fontRef idx="minor"/>
        </p:style>
        <p:txBody>
          <a:bodyPr lIns="0" rIns="0" tIns="0" bIns="0" anchor="t">
            <a:spAutoFit/>
          </a:bodyPr>
          <a:p>
            <a:pPr algn="r" defTabSz="914400">
              <a:lnSpc>
                <a:spcPts val="2160"/>
              </a:lnSpc>
            </a:pPr>
            <a:r>
              <a:rPr lang="en-US" sz="1800" b="0" u="none" strike="noStrike">
                <a:solidFill>
                  <a:srgbClr val="d7e7c6"/>
                </a:solidFill>
                <a:effectLst/>
                <a:uFillTx/>
                <a:latin typeface="Pattanakarn Light"/>
                <a:ea typeface="Pattanakarn Light"/>
              </a:rPr>
              <a:t>Update passwords, stay informed, be alert</a:t>
            </a:r>
            <a:endParaRPr lang="en-ZA" sz="1800" b="0" u="none" strike="noStrike">
              <a:solidFill>
                <a:srgbClr val="ffffff"/>
              </a:solidFill>
              <a:effectLst/>
              <a:uFillTx/>
              <a:latin typeface="Arial"/>
            </a:endParaRPr>
          </a:p>
        </p:txBody>
      </p:sp>
      <p:sp>
        <p:nvSpPr>
          <p:cNvPr id="259" name="TextBox 21"/>
          <p:cNvSpPr/>
          <p:nvPr/>
        </p:nvSpPr>
        <p:spPr>
          <a:xfrm>
            <a:off x="14443200" y="6140880"/>
            <a:ext cx="2071440" cy="822240"/>
          </a:xfrm>
          <a:prstGeom prst="rect">
            <a:avLst/>
          </a:prstGeom>
          <a:noFill/>
          <a:ln w="0">
            <a:noFill/>
          </a:ln>
        </p:spPr>
        <p:style>
          <a:lnRef idx="0"/>
          <a:fillRef idx="0"/>
          <a:effectRef idx="0"/>
          <a:fontRef idx="minor"/>
        </p:style>
        <p:txBody>
          <a:bodyPr lIns="0" rIns="0" tIns="0" bIns="0" anchor="t">
            <a:spAutoFit/>
          </a:bodyPr>
          <a:p>
            <a:pPr algn="r" defTabSz="914400">
              <a:lnSpc>
                <a:spcPts val="2160"/>
              </a:lnSpc>
            </a:pPr>
            <a:r>
              <a:rPr lang="en-US" sz="1800" b="0" u="none" strike="noStrike">
                <a:solidFill>
                  <a:srgbClr val="d7e7c6"/>
                </a:solidFill>
                <a:effectLst/>
                <a:uFillTx/>
                <a:latin typeface="Pattanakarn Light"/>
                <a:ea typeface="Pattanakarn Light"/>
              </a:rPr>
              <a:t>Remember, Digital safety starts with you</a:t>
            </a:r>
            <a:endParaRPr lang="en-ZA" sz="1800" b="0" u="none" strike="noStrike">
              <a:solidFill>
                <a:srgbClr val="ffffff"/>
              </a:solidFill>
              <a:effectLst/>
              <a:uFillTx/>
              <a:latin typeface="Arial"/>
            </a:endParaRPr>
          </a:p>
        </p:txBody>
      </p:sp>
      <p:sp>
        <p:nvSpPr>
          <p:cNvPr id="260" name="TextBox 22"/>
          <p:cNvSpPr/>
          <p:nvPr/>
        </p:nvSpPr>
        <p:spPr>
          <a:xfrm>
            <a:off x="7458480" y="8911800"/>
            <a:ext cx="3521160" cy="1281240"/>
          </a:xfrm>
          <a:prstGeom prst="rect">
            <a:avLst/>
          </a:prstGeom>
          <a:noFill/>
          <a:ln w="0">
            <a:noFill/>
          </a:ln>
        </p:spPr>
        <p:style>
          <a:lnRef idx="0"/>
          <a:fillRef idx="0"/>
          <a:effectRef idx="0"/>
          <a:fontRef idx="minor"/>
        </p:style>
        <p:txBody>
          <a:bodyPr lIns="0" rIns="0" tIns="0" bIns="0" anchor="t">
            <a:spAutoFit/>
          </a:bodyPr>
          <a:p>
            <a:pPr algn="ctr" defTabSz="914400">
              <a:lnSpc>
                <a:spcPts val="1681"/>
              </a:lnSpc>
            </a:pPr>
            <a:r>
              <a:rPr lang="en-US" sz="1400" b="0" u="none" strike="noStrike">
                <a:solidFill>
                  <a:srgbClr val="d7e7c6"/>
                </a:solidFill>
                <a:effectLst/>
                <a:uFillTx/>
                <a:latin typeface="Pattanakarn Light"/>
                <a:ea typeface="Pattanakarn Light"/>
              </a:rPr>
              <a:t>SANS Institute – Phishing Awareness Training</a:t>
            </a:r>
            <a:endParaRPr lang="en-ZA" sz="1400" b="0" u="none" strike="noStrike">
              <a:solidFill>
                <a:srgbClr val="ffffff"/>
              </a:solidFill>
              <a:effectLst/>
              <a:uFillTx/>
              <a:latin typeface="Arial"/>
            </a:endParaRPr>
          </a:p>
          <a:p>
            <a:pPr algn="ctr" defTabSz="914400">
              <a:lnSpc>
                <a:spcPts val="1681"/>
              </a:lnSpc>
            </a:pPr>
            <a:r>
              <a:rPr lang="en-US" sz="1400" b="0" u="none" strike="noStrike">
                <a:solidFill>
                  <a:srgbClr val="d7e7c6"/>
                </a:solidFill>
                <a:effectLst/>
                <a:uFillTx/>
                <a:latin typeface="Pattanakarn Light"/>
                <a:ea typeface="Pattanakarn Light"/>
              </a:rPr>
              <a:t>Offers professional training modules, simulations, and articles to help organizations build resilience against phishing.</a:t>
            </a:r>
            <a:endParaRPr lang="en-ZA" sz="1400" b="0" u="none" strike="noStrike">
              <a:solidFill>
                <a:srgbClr val="ffffff"/>
              </a:solidFill>
              <a:effectLst/>
              <a:uFillTx/>
              <a:latin typeface="Arial"/>
            </a:endParaRPr>
          </a:p>
          <a:p>
            <a:pPr algn="ctr" defTabSz="914400">
              <a:lnSpc>
                <a:spcPts val="1681"/>
              </a:lnSpc>
            </a:pPr>
            <a:r>
              <a:rPr lang="en-US" sz="1400" b="0" u="none" strike="noStrike">
                <a:solidFill>
                  <a:srgbClr val="d7e7c6"/>
                </a:solidFill>
                <a:effectLst/>
                <a:uFillTx/>
                <a:latin typeface="Pattanakarn Light"/>
                <a:ea typeface="Pattanakarn Light"/>
              </a:rPr>
              <a:t>Visit SANS Phishing Awareness Training (sans.org in Bing)</a:t>
            </a:r>
            <a:endParaRPr lang="en-ZA"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82" dur="indefinite" restart="never" nodeType="tmRoot">
          <p:childTnLst>
            <p:seq>
              <p:cTn id="83" dur="indefinite" nodeType="mainSeq">
                <p:childTnLst>
                  <p:par>
                    <p:cTn id="84" fill="hold">
                      <p:stCondLst>
                        <p:cond delay="0"/>
                      </p:stCondLst>
                      <p:childTnLst>
                        <p:par>
                          <p:cTn id="85" fill="hold">
                            <p:stCondLst>
                              <p:cond delay="0"/>
                            </p:stCondLst>
                            <p:childTnLst>
                              <p:par>
                                <p:cTn id="86" presetID="40" presetClass="entr" fill="hold" nodeType="afterEffect">
                                  <p:stCondLst>
                                    <p:cond delay="0"/>
                                  </p:stCondLst>
                                  <p:childTnLst>
                                    <p:set>
                                      <p:cBhvr>
                                        <p:cTn id="87" dur="1" fill="hold">
                                          <p:stCondLst>
                                            <p:cond delay="0"/>
                                          </p:stCondLst>
                                        </p:cTn>
                                        <p:tgtEl>
                                          <p:spTgt spid="250"/>
                                        </p:tgtEl>
                                        <p:attrNameLst>
                                          <p:attrName>style.visibility</p:attrName>
                                        </p:attrNameLst>
                                      </p:cBhvr>
                                      <p:to>
                                        <p:strVal val="visible"/>
                                      </p:to>
                                    </p:set>
                                    <p:animEffect filter="fade" transition="in">
                                      <p:cBhvr additive="repl">
                                        <p:cTn id="88" dur="1000"/>
                                        <p:tgtEl>
                                          <p:spTgt spid="250"/>
                                        </p:tgtEl>
                                      </p:cBhvr>
                                    </p:animEffect>
                                    <p:anim calcmode="lin" valueType="num">
                                      <p:cBhvr additive="repl">
                                        <p:cTn id="89" dur="1000" fill="hold"/>
                                        <p:tgtEl>
                                          <p:spTgt spid="250"/>
                                        </p:tgtEl>
                                        <p:attrNameLst>
                                          <p:attrName>ppt_x</p:attrName>
                                        </p:attrNameLst>
                                      </p:cBhvr>
                                      <p:tavLst>
                                        <p:tav>
                                          <p:val>
                                            <p:strVal val="#ppt_x-.1"/>
                                          </p:val>
                                        </p:tav>
                                        <p:tav tm="100000">
                                          <p:val>
                                            <p:strVal val="#ppt_x"/>
                                          </p:val>
                                        </p:tav>
                                      </p:tavLst>
                                    </p:anim>
                                    <p:anim calcmode="lin" valueType="num">
                                      <p:cBhvr additive="repl">
                                        <p:cTn id="90" dur="1000" fill="hold"/>
                                        <p:tgtEl>
                                          <p:spTgt spid="250"/>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298</TotalTime>
  <Application>LibreOffice/25.8.4.2$Windows_X86_64 LibreOffice_project/290daaa01b999472f0c7a3890eb6a550fd74c6df</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DAG_tWr1ISY</dc:identifier>
  <dc:language>en-ZA</dc:language>
  <cp:lastModifiedBy/>
  <cp:lastPrinted>2026-02-02T23:52:24Z</cp:lastPrinted>
  <dcterms:modified xsi:type="dcterms:W3CDTF">2026-02-02T23:59:40Z</dcterms:modified>
  <cp:revision>10</cp:revision>
  <dc:subject/>
  <dc:title>Green and Black Modern Cybersecurity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